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647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54864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 Detection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Graph Neural Networks &amp; Manual Feature Engineering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2029968"/>
            <a:ext cx="73152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57984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Investigating whether manual feature engineering can improve expressiveness of GNNs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931920"/>
            <a:ext cx="8229600" cy="27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0416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Sandro Khizanishvili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Mining and Applications  ·  Sapienza University of Rome  ·  2026  ·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 Laundering (AML)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and why it's hard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651760" cy="1417320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$0.8–2T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9385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laundered annually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(2–5% of global GDP)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2651760" cy="1417320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46120" y="19385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criminal proceeds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&amp; seized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280160"/>
            <a:ext cx="2651760" cy="1417320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3-Stage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72200" y="19385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· Layering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Integration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880360"/>
            <a:ext cx="41148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80360"/>
            <a:ext cx="54864" cy="2057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626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255264"/>
            <a:ext cx="374904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imbalance: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0.05% of transactions are illicit (1,941:1 ratio)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 patterns span multiple hops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invisible in single transactions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systems: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&gt;95% false positive rate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requirements, privacy constraints, evolving evasion tactics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880360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880360"/>
            <a:ext cx="54864" cy="2057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626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GNNs?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255264"/>
            <a:ext cx="374904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form a financial network — naturally modelled as a directed graph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GNNs propagate suspicion signals across the network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features (amounts, formats, timing) + node context jointly leveraged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edge classification 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predict “</a:t>
            </a:r>
            <a:r>
              <a:rPr lang="en-US" sz="13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Is_Laundering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per transaction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GNNs &amp; the 1-WL Expressiveness Ceiling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standard message passing fails on certain AML-critical graph structures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54864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1-WL Test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8249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Iteratively hashes multiset of neighbour colours: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c(v)ᵗ = HASH( c(v)ᵗ⁻¹, { c(u)ᵗ⁻¹ : u∈N(v) } 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40280"/>
            <a:ext cx="374904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MP-GNNs ≡ 1-WL in expressiveness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distinguish: regular graphs with same degree sequence, equal-length cycles, symmetric substructures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AML: laundering patterns (rings, fan-outs, cycles) are exactly the structures 1-WL misses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 et al. </a:t>
            </a: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POWERFUL ARE GRAPH NEURAL NETWORKS? 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(2019): any MPNN is at most as powerful as 1-WL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80160"/>
            <a:ext cx="54864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71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Mitigation Strategy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682496"/>
            <a:ext cx="374904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 structural information that 1-WL cannot derive and inject as input features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GFP (Graph Feature Preprocessor) — edge-level structural patterns: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Cycles, scatter-gather, vertex burst statistics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as additional edge attributes before GNN runs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RWPE (Random Walk Positional Encoding) — node-level structural identity: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p(vv)^k = probability of k-step walk returning to v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cycle membership, hub status, structural role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across GINe · GATv2 · PNA in 5 configurations each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AML Dataset — LI-Small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synthetic financial transactions — Altman et al. (2023), NeurIPS Datasets &amp; Benchmarks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265176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350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(edges)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4408" y="1280160"/>
            <a:ext cx="265176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13350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712K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64408" y="18470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Accounts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280160"/>
            <a:ext cx="2651760" cy="1005840"/>
          </a:xfrm>
          <a:prstGeom prst="rect">
            <a:avLst/>
          </a:prstGeom>
          <a:solidFill>
            <a:srgbClr val="0B1F3A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08776" y="133502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08776" y="184708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 Rate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(1,941:1 ratio)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450592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250545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days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0040" y="30175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1–17 2022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(~10 active)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64408" y="2450592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64408" y="250545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264408" y="30175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08776" y="2450592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08776" y="250545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08776" y="30175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Types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639312"/>
            <a:ext cx="8503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639312"/>
            <a:ext cx="54864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712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Files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977640"/>
            <a:ext cx="8321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LI-Small_Trans.csv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Timestamp, From/To Bank+Account, Amount Paid/Received, Currency Paid/Received, Payment Format, Is_Laundering (11 cols)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LI-Small_accounts.csv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Bank Name, Bank ID, Account Number, Entity ID, Entity Name (Corp / Individual / Partnership / Sole) (5 cols)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volume &amp; laundering rate over time — daily and intraday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51206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35024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Transaction Volume + Laundering Count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609344"/>
            <a:ext cx="4983480" cy="17556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34015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Sep 11–17: only 223 total transactions — effective window is 10 days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261872"/>
            <a:ext cx="32461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69280" y="1335024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Laundering Rate by Hour &amp; Day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1609344"/>
            <a:ext cx="3108960" cy="1143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50992" y="2779776"/>
            <a:ext cx="31089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hour: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13:00 (0.07%)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Minimum: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midnight (0.015%)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Saturday: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2× average rate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Sunday: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highest day (0.12%)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 sin/cos encoding used for hour + day features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Format Risk &amp; Network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 is the dominant laundering signal · Scale-free network topology confirms graph approach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5074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335024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Format: Volume vs. Laundering Risk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609344"/>
            <a:ext cx="4956048" cy="17373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3383280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ACH: 0.33% laundering rate (6.4× avg)  ·  Wire + Reinvestment: 0 laundering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77840" y="1261872"/>
            <a:ext cx="32461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69280" y="1335024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Distribution (log-log)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1609344"/>
            <a:ext cx="3108960" cy="12344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50992" y="2871216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“Scale-free”: max out-degree 222,037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out-degree: 2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Power-law confirms financial network realism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LAUNDERING TYPOLOGIES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8593" y="221807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and 8 Base Laundering Pattern Types</a:t>
            </a:r>
            <a:endParaRPr lang="en-US" sz="26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A030071-3EA7-B586-19B6-09ADBCC0E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72114"/>
            <a:ext cx="4285152" cy="1355351"/>
          </a:xfrm>
          <a:prstGeom prst="rect">
            <a:avLst/>
          </a:prstGeom>
        </p:spPr>
      </p:pic>
      <p:pic>
        <p:nvPicPr>
          <p:cNvPr id="42" name="Picture 41" descr="A diagram of a financial graph&#10;&#10;Description automatically generated">
            <a:extLst>
              <a:ext uri="{FF2B5EF4-FFF2-40B4-BE49-F238E27FC236}">
                <a16:creationId xmlns:a16="http://schemas.microsoft.com/office/drawing/2014/main" id="{47FC485B-ED48-6904-AABD-F4CB461E8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462426"/>
            <a:ext cx="4400707" cy="2402338"/>
          </a:xfrm>
          <a:prstGeom prst="rect">
            <a:avLst/>
          </a:prstGeom>
        </p:spPr>
      </p:pic>
      <p:sp>
        <p:nvSpPr>
          <p:cNvPr id="46" name="Shape 8">
            <a:extLst>
              <a:ext uri="{FF2B5EF4-FFF2-40B4-BE49-F238E27FC236}">
                <a16:creationId xmlns:a16="http://schemas.microsoft.com/office/drawing/2014/main" id="{E2D24A9C-4B69-E20C-92E8-9E6C0EB3ED35}"/>
              </a:ext>
            </a:extLst>
          </p:cNvPr>
          <p:cNvSpPr/>
          <p:nvPr/>
        </p:nvSpPr>
        <p:spPr>
          <a:xfrm>
            <a:off x="5527109" y="1340725"/>
            <a:ext cx="3397059" cy="1938277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Shape 9">
            <a:extLst>
              <a:ext uri="{FF2B5EF4-FFF2-40B4-BE49-F238E27FC236}">
                <a16:creationId xmlns:a16="http://schemas.microsoft.com/office/drawing/2014/main" id="{6146F84B-7A53-6CB6-2D59-AEEBDF02C39A}"/>
              </a:ext>
            </a:extLst>
          </p:cNvPr>
          <p:cNvSpPr/>
          <p:nvPr/>
        </p:nvSpPr>
        <p:spPr>
          <a:xfrm>
            <a:off x="5527109" y="1340725"/>
            <a:ext cx="45719" cy="1938277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89F7FFC3-828B-E7D3-4A44-121DEE2298F9}"/>
              </a:ext>
            </a:extLst>
          </p:cNvPr>
          <p:cNvSpPr/>
          <p:nvPr/>
        </p:nvSpPr>
        <p:spPr>
          <a:xfrm>
            <a:off x="5649374" y="1425973"/>
            <a:ext cx="3198247" cy="1661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Temporal Split</a:t>
            </a:r>
            <a:endParaRPr lang="en-US" sz="1300" b="1" dirty="0"/>
          </a:p>
          <a:p>
            <a:pPr marL="685800" lvl="1" indent="-342900">
              <a:buSzPct val="100000"/>
              <a:buChar char="•"/>
            </a:pPr>
            <a:r>
              <a:rPr lang="en-US" sz="1300" b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(60%): 4,154,429 edges </a:t>
            </a:r>
            <a:r>
              <a:rPr lang="en-US" sz="13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1,813 laundering (0.04%)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b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(20%): +1,384,810 edges </a:t>
            </a:r>
            <a:r>
              <a:rPr lang="en-US" sz="13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827 laundering (0.06%)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300" b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(20%): +1,384,810 edges </a:t>
            </a:r>
            <a:r>
              <a:rPr lang="en-US" sz="13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925 laundering (0.07%)</a:t>
            </a:r>
            <a:endParaRPr lang="en-US" sz="1300" dirty="0"/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2AD11D8A-1CF6-B90F-EE64-2243EB39B82F}"/>
              </a:ext>
            </a:extLst>
          </p:cNvPr>
          <p:cNvSpPr/>
          <p:nvPr/>
        </p:nvSpPr>
        <p:spPr>
          <a:xfrm>
            <a:off x="320040" y="69779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No-leakage design · cumulative snapshot splits · edge classification task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Graph Construction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No-leakage design · cumulative snapshot splits · edge classification task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54864" cy="2743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Features (16 dims)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3749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Amount_Log: 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log1p(Amount Paid) — compresses heavy tail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Currency_Mismatch: 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 (1.43% of transactions)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Hour_Sin/Cos + DayOfWeek_Sin/Cos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cyclical encoding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Is_Weekend: 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(Saturday/Sunday 2× avg rate)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Is_ACH: 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— 0.33% laundering rate (6.4× avg)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Is_Self_Loop: 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== receiver (near-zero risk)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PayFmt_* (7 cols): </a:t>
            </a: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payment format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41605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61872"/>
            <a:ext cx="54864" cy="2743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Features (5 dims) 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64208"/>
            <a:ext cx="3749040" cy="2148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Bank_ID_Norm: 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bank identifier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EntType</a:t>
            </a: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_* (4 cols): 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entity type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4160520"/>
            <a:ext cx="8503920" cy="777240"/>
          </a:xfrm>
          <a:prstGeom prst="rect">
            <a:avLst/>
          </a:prstGeom>
          <a:solidFill>
            <a:srgbClr val="D6E9F2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4224528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class ratio 2,290:1  ·  </a:t>
            </a:r>
            <a:r>
              <a:rPr lang="en-US" sz="1150" dirty="0" err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pos_weight</a:t>
            </a:r>
            <a:r>
              <a:rPr lang="en-US" sz="11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BCEWithLogitsLoss  ·  Prior edges kept in val/test graphs to provide message-passing context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Encode–Decode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786384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architectures share the same pattern · Edge features used in EVERY message passing layer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" y="1425893"/>
            <a:ext cx="1417320" cy="1298448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" y="1445323"/>
            <a:ext cx="1417320" cy="730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" y="2333663"/>
            <a:ext cx="1417320" cy="308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440180" y="1992821"/>
            <a:ext cx="698561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43100" y="1425893"/>
            <a:ext cx="1417320" cy="1298448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43100" y="1445323"/>
            <a:ext cx="1417320" cy="730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43100" y="2333663"/>
            <a:ext cx="1417320" cy="308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node: 5→64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edge: 16→64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306872" y="1992821"/>
            <a:ext cx="75211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63340" y="1425893"/>
            <a:ext cx="1417320" cy="1298448"/>
          </a:xfrm>
          <a:prstGeom prst="rect">
            <a:avLst/>
          </a:prstGeom>
          <a:solidFill>
            <a:srgbClr val="028090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63340" y="1445323"/>
            <a:ext cx="1417320" cy="730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Layer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(MP)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63340" y="2333663"/>
            <a:ext cx="1417320" cy="308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GINe/GATv2/PNA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229616" y="1992821"/>
            <a:ext cx="749605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83580" y="1425893"/>
            <a:ext cx="1417320" cy="1298448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83580" y="1445323"/>
            <a:ext cx="1417320" cy="730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Readout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(Decoder)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83580" y="2333663"/>
            <a:ext cx="1417320" cy="308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MLP(</a:t>
            </a:r>
            <a:r>
              <a:rPr lang="en-US" sz="85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h_src</a:t>
            </a: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h_dst</a:t>
            </a: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50" dirty="0" err="1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e_seed</a:t>
            </a: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200900" y="1992821"/>
            <a:ext cx="698561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03820" y="1425893"/>
            <a:ext cx="1417320" cy="1298448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03820" y="1445323"/>
            <a:ext cx="1417320" cy="730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of Laundering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03820" y="2333663"/>
            <a:ext cx="1417320" cy="308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σ(logit)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2944368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944368"/>
            <a:ext cx="54864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017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" y="3310128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ea typeface="Calibri" pitchFamily="34" charset="-122"/>
                <a:cs typeface="Calibri" pitchFamily="34" charset="-120"/>
              </a:rPr>
              <a:t>node_proj: Linear(5 → 64)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ea typeface="Calibri" pitchFamily="34" charset="-122"/>
                <a:cs typeface="Calibri" pitchFamily="34" charset="-120"/>
              </a:rPr>
              <a:t>edge_proj: Linear(16 → 64) 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/>
              <a:t>Per GNN layer: Conv → </a:t>
            </a:r>
            <a:r>
              <a:rPr lang="en-US" sz="1300" dirty="0" err="1"/>
              <a:t>LayerNorm</a:t>
            </a:r>
            <a:r>
              <a:rPr lang="en-US" sz="1300" dirty="0"/>
              <a:t> → </a:t>
            </a:r>
            <a:r>
              <a:rPr lang="en-US" sz="1300" dirty="0" err="1"/>
              <a:t>ReLU</a:t>
            </a:r>
            <a:r>
              <a:rPr lang="en-US" sz="1300" dirty="0"/>
              <a:t> → Dropout(0.3)</a:t>
            </a: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ea typeface="Calibri" pitchFamily="34" charset="-122"/>
                <a:cs typeface="Calibri" pitchFamily="34" charset="-120"/>
              </a:rPr>
              <a:t>2 layers · hidden_dim=64</a:t>
            </a:r>
          </a:p>
          <a:p>
            <a:pPr marL="342900" indent="-342900">
              <a:buSzPct val="100000"/>
              <a:buChar char="•"/>
            </a:pPr>
            <a:r>
              <a:rPr lang="en-US" sz="1300" dirty="0"/>
              <a:t>Edge features used in ALL GNN layers, not just decoder</a:t>
            </a:r>
          </a:p>
        </p:txBody>
      </p:sp>
      <p:sp>
        <p:nvSpPr>
          <p:cNvPr id="29" name="Shape 27"/>
          <p:cNvSpPr/>
          <p:nvPr/>
        </p:nvSpPr>
        <p:spPr>
          <a:xfrm>
            <a:off x="4663440" y="2944368"/>
            <a:ext cx="41605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944368"/>
            <a:ext cx="54864" cy="2011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017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3310128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seed edge (u→v): cat(h[u], h[v], </a:t>
            </a:r>
            <a:r>
              <a:rPr lang="en-US" sz="13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e_seed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[192]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Linear(192→64) → ReLU → LayerNorm → Dropout → Linear(64→1)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e_seed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3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edge_proj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3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edge_label_attr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))</a:t>
            </a:r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</a:t>
            </a:r>
            <a:r>
              <a:rPr lang="en-US" sz="1300" dirty="0" err="1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e_seed</a:t>
            </a: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identical score for all transactions between same pair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Layers: GINe · GATv2 · PNA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 edge features in message passing · 2 layers · hidden=64 · shared edge_proj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317617"/>
            <a:ext cx="85039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54864" cy="1161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44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GINe (Graph Isomorphism Network + Edges)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0040" y="2532888"/>
            <a:ext cx="85039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32888"/>
            <a:ext cx="54864" cy="1161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968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GATv2 (Graph Attention Network v2)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39531" y="3440097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 heads × 16 dims = 64 output  ·  concat=True  ·  add_self_loops=False]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785616"/>
            <a:ext cx="8503920" cy="1161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3785616"/>
            <a:ext cx="54864" cy="1161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84962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 (Principal Neighborhood Aggregation)</a:t>
            </a:r>
            <a:endParaRPr lang="en-US" sz="12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C440F47-D5F0-70ED-0AF2-BCB36679D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947" y="1654183"/>
            <a:ext cx="2465223" cy="5752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CE4FADA-5B1B-AC96-4B7B-D57B7F5FB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406" y="2876495"/>
            <a:ext cx="3858051" cy="539631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961964F-EF5D-9FD3-A401-7BB021E9F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991" y="4539154"/>
            <a:ext cx="3116568" cy="39367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0F42F0A-D4F8-0BDC-D17B-C82DADD362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7913" y="4105656"/>
            <a:ext cx="3161646" cy="443658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D32C297-2B51-4393-6224-BC143CB94C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4181188"/>
            <a:ext cx="4051411" cy="44365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for Imbalanced Classification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accuracy meaningless at 1,941:1 imbalance — three specialised metrics used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8503920" cy="1124712"/>
          </a:xfrm>
          <a:prstGeom prst="rect">
            <a:avLst/>
          </a:prstGeom>
          <a:solidFill>
            <a:srgbClr val="0B1F3A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350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64208" y="13533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Area Under Curve (Primary Metric)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655064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AUC( P(t) vs R(t) ) integrated over all thresholds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3716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Imbalance-robust: focuses on positive class. Random classifier → PR-AUC ≈ 0.05%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465498"/>
            <a:ext cx="850392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5511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64208" y="256946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— Harmonic Mean of Precision &amp; Recall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87121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2·TP / (2·TP + FP + FN)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587752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false positives (costly investigations) and false negatives (missed crimes). Reported at validation-optimised threshold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94176"/>
            <a:ext cx="8503920" cy="112471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767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64208" y="378561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Matthews Correlation Coefficient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08736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MCC = (TP·TN - FP·FN) / √( (TP+FP)(TP+FN)(TN+FP)(TN+FN) 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3803904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all 4 confusion matrix cells. Range [-1,+1]; 0=random. Most reliable for severe imbalance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BASELINE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 Results vs. Paper (Test Set)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optimised on validation set · Paper uses fixed threshold 0.5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67896"/>
              </p:ext>
            </p:extLst>
          </p:nvPr>
        </p:nvGraphicFramePr>
        <p:xfrm>
          <a:off x="640080" y="1298448"/>
          <a:ext cx="7040880" cy="18669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PR-AUC (%)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F1 (%)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MCC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Paper — GIN (Altman 2023)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7.90 ± 2.78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Paper — PNA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16.45 ± 1.46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Paper — GFP+XGBoost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27.30 ± 0.33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i="1" dirty="0">
                          <a:solidFill>
                            <a:srgbClr val="5E7A90"/>
                          </a:solidFill>
                        </a:rPr>
                        <a:t>—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GINe Baseline (ours)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3.46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9.62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13.02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GAT Baseline (ours)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2.15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6.54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8.36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PNA Baseline (ours)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D2137"/>
                          </a:solidFill>
                        </a:rPr>
                        <a:t>21.73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24.88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D2137"/>
                          </a:solidFill>
                        </a:rPr>
                        <a:t>30.54</a:t>
                      </a:r>
                      <a:endParaRPr lang="en-US" sz="1150" dirty="0"/>
                    </a:p>
                  </a:txBody>
                  <a:tcPr>
                    <a:lnL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240280" y="3448792"/>
            <a:ext cx="4114800" cy="1535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240280" y="3448792"/>
            <a:ext cx="54864" cy="1535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23160" y="3822192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 baseline (PR-AUC 21.73%) &gt;&gt; GINe (3.46%) &gt;&gt; GAT (2.15%)</a:t>
            </a: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aggregators + degree-aware scalers give PNA structural advantage without any extra features</a:t>
            </a: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GINe aligns with paper's GIN: 9.62% vs 7.90±2.78%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GFP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Feature Preprocessor (IBM SnapML)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edge-level structural patterns · Causal (only past edges used) · 61 additional dims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14800" cy="37536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54864" cy="37536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GFP Pattern Groups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3749040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Scatter-Gather Histogram (3 dims)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window: 6h · Bins: [2–3), [3–5), [5–∞)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gather-then-scatter pattern intensity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Cycle Histogram (3 dims)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window: 24h · Bins: [2–3), [3–5), [5–∞)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Round-trips A→B→A and ring cycles closing within 24h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Length-Constrained Cycle Histogram (3 dims)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window · max_len=6 (paper uses 10) · Bins: [2,3,5]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cycles of length 2–6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Statistics (52 dims)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window · Source + dest · Out/In edges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fan, degree, ratio, avg, sum, var, skew, kurtosis per col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 Timestamp + Amount_USD (FX-corrected to USD)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261872"/>
            <a:ext cx="4160520" cy="37536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261872"/>
            <a:ext cx="54864" cy="37536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223417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GFP for AML?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1664208"/>
            <a:ext cx="3749040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encodes structures invisible to 1-WL GNNs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Scatter-Gather → canonical smurfing/layering signal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cycles → round-trips, rings (laundering red flags)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statistics → burst behaviour, sudden transaction volume spikes at unusual hours</a:t>
            </a:r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16 baseline + 61 GFP = 77 edge feature dims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RWPE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Walk Positional Encoding (RWPE)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node identity · Directly addresses 1-WL symmetry at node level · K=8 walk steps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54864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53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RWPE Works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matrix: Â = D⁻¹A 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RWPE(v) = [ (Â¹)_vv, (Â²)_vv, ..., (Âᴷ)_vv ]  ∈ ℝᴷ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212848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K=8: captures cycles of length 2–8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per snapshot (train/val/test) using only that snapshot's edges — no temporal leakage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feature dim: 5 + 8 = 13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AddRandomWalkPE from PyG transforms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length interpretation: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k=2: A→B→A round-trips (simplest cycle)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k=3,4: 3-4 node laundering rings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k=5,6: multi-layer shell company chains</a:t>
            </a:r>
            <a:endParaRPr lang="en-US" sz="1300" dirty="0"/>
          </a:p>
          <a:p>
            <a:pPr marL="685800" lvl="1" indent="-342900">
              <a:buSzPct val="100000"/>
              <a:buChar char="•"/>
            </a:pPr>
            <a:r>
              <a:rPr lang="en-US" sz="11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k=7,8: extended cross-jurisdiction cycles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change: node_proj = Linear(13→64) instead of Linear(5→64)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61872"/>
            <a:ext cx="41605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61872"/>
            <a:ext cx="54864" cy="3566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2479" y="1240703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RWPE Captures for AML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64208"/>
            <a:ext cx="3749040" cy="2944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p(vv)^2 → account involved in A→B→A round-trips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p(vv)^3 → participant in 3-node laundering 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p(vv)^k → member of cycle of length 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accounts have distinctive return probability profiles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Node-level signal: complements GFP's edge-level patterns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Peripheral accounts (1–2 transactions) have near-zero return probabilities at all k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— GFP SPLIT PROJECTION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GFP Split Projection — Injecting GFP Directly into the Decoder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"Enhanced" architecture · GFP bypasses message passing entirely · Best strategy for GINe &amp; GAT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54864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350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GFP (all 77 dims through encoder)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2920" y="16642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 = ReLU(edge_proj(edge_attr_77))  →  GNN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Decoder: cat(h_src, h_dst, e_seed_77) → 3×64=192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17627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GFP's pre-computed structural summaries are re-processed through the same aggregation designed for raw features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dilute the discriminative precision of GFP cycle scores and scatter-gather counts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261872"/>
            <a:ext cx="4160520" cy="2377440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61872"/>
            <a:ext cx="54864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350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Projection (GFP decode-only injection)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16642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Encoder: edge_proj_base(edge_attr[:,:16])  →  GNN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0" y="19202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Decoder: cat(h_src, h_dst, e_base, e_gfp) → 4×128=512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0" y="217627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learns structural embeddings from raw transaction features only (clean encoder)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GFP's pattern scores injected directly at classification — MLP can combine both signals with full precision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2176272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GNN learns structural embeddings from raw transaction features only (clean encoder)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GFP's pattern scores injected directly at classification — MLP combines both with full precision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" y="3794760"/>
            <a:ext cx="850392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22192"/>
          <a:ext cx="8503920" cy="12573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11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Baseline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Standard GFP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GFP Split Projection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node_proj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Linear(5→64)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Linear(5→64)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Linear(5→128)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edge_proj (encoder)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Linear(16→64)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Linear(77→64)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Linear(16→128)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edge_proj_gfp (decoder only)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Linear(61→128)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1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Decoder input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3×64=192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D2137"/>
                          </a:solidFill>
                        </a:rPr>
                        <a:t>3×64=192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28090"/>
                          </a:solidFill>
                        </a:rPr>
                        <a:t>4×128=512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OVERALL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Performance: PR-AUC · F1 · MCC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architectures × all feature configurations · threshold optimised on validation set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261872"/>
            <a:ext cx="2880360" cy="170992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1261872"/>
            <a:ext cx="2880360" cy="1709928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1261872"/>
            <a:ext cx="2880360" cy="170992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74320" y="3017520"/>
            <a:ext cx="2057400" cy="1920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5"/>
          <p:cNvSpPr/>
          <p:nvPr/>
        </p:nvSpPr>
        <p:spPr>
          <a:xfrm>
            <a:off x="274320" y="3081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274320" y="338328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GFP Split (Enh)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274320" y="362102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22.7  F1 26.2  MCC 31.5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74320" y="390448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+19.3 pp PR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2468880" y="3017520"/>
            <a:ext cx="2057400" cy="1920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2468880" y="3081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468880" y="338328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GFP Split (Enh)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2468880" y="362102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21.9  F1 24.9  MCC 30.4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468880" y="390448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+19.8 pp PR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2057400" cy="1920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663440" y="3081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663440" y="338328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RWPE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663440" y="362102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22.9  F1 25.9  MCC 34.5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4663440" y="390448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+3.95 MCC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858000" y="3017520"/>
            <a:ext cx="2057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Text 20"/>
          <p:cNvSpPr/>
          <p:nvPr/>
        </p:nvSpPr>
        <p:spPr>
          <a:xfrm>
            <a:off x="6858000" y="308152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858000" y="3383280"/>
            <a:ext cx="2057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GFP+RWPE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858000" y="362102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11.8  F1 11.8  MCC 12.4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858000" y="3904488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365762" y="4924169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GFP Split Projection is best for GINe &amp; GAT  ·  RWPE is best for PNA  ·  PNA+RWPE achieves highest MCC (34.5 = best class separability)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FULL COMPARISON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 Results — Test Set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756943"/>
              </p:ext>
            </p:extLst>
          </p:nvPr>
        </p:nvGraphicFramePr>
        <p:xfrm>
          <a:off x="1034024" y="929932"/>
          <a:ext cx="6629400" cy="37795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40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PR-AUC (%)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F1 (%)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MCC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GINe Baseline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3.46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9.62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13.02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GINe + GFP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18.56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23.88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27.02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GINe + RWPE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15.17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16.11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18.18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GINe + GFP+RWPE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19.65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24.46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26.70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GINe + GFP Split ★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22.73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26.24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31.54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GAT Baseline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2.15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6.54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8.36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GAT + GFP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18.38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22.47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26.44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GAT + RWPE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4.09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9.72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11.07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GAT + GFP+RWPE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17.70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22.05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26.41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GAT + GFP Split ★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21.91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24.87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30.35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PNA Baseline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21.73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24.88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30.54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PNA + GFP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18.49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23.65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26.87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PNA + RWPE ★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22.94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25.92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34.49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PNA + GFP+RWPE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19.89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25.71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29.10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40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PNA + GFP Split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21.27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24.66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0D2137"/>
                          </a:solidFill>
                        </a:rPr>
                        <a:t>31.28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per architecture  ·  GFP Split Projection = GFP (Enhanced)  ·  Highlighted in teal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PER-TYPOLOGY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GINe: Performance by Laundering Typology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bootstrap iterations · 10% laundering sampling · PR-AUC · F1 · MCC per pattern type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234440"/>
            <a:ext cx="8778240" cy="2761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11480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4114800"/>
            <a:ext cx="54864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187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for GINe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446227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Fan-In/Fan-Out: GFP and GFP+RWPE approach ~1.0 PR-AUC — vertex statistics capture hub behaviour perfectly  ·  Integration (layering transitions) and ALL LAUNDERING aggregate are harder (~0.7–0.85 PR-AUC)  ·  GFP Enhanced (purple) consistently on top or near-top across all typologies  ·  RWPE helps most for Cycle and Random patterns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PER-TYPOLOGY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GAT: Performance by Laundering Typology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bootstrap iterations · 10% laundering sampling · PR-AUC · F1 · MCC per pattern type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234440"/>
            <a:ext cx="8778240" cy="2761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11480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4114800"/>
            <a:ext cx="54864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187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for GAT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446227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 baseline drops to ~0.58 PR-AUC for Integration — most dramatic weakness  ·  GFP (orange) and GFP Enhanced (purple) strongly recover performance across all typologies  ·  RWPE (green) alone provides modest gains — attention needs explicit structural patterns more than node position  ·  GFP+RWPE does not consistently beat GFP alone for GAT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PER-TYPOLOGY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PNA: Performance by Laundering Typology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bootstrap iterations · 10% laundering sampling · PR-AUC · F1 · MCC per pattern type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234440"/>
            <a:ext cx="8778240" cy="276148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20040" y="4114800"/>
            <a:ext cx="8503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4114800"/>
            <a:ext cx="54864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187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 for PNA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446227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 baseline (blue) already strong (~0.9+ PR-AUC) across all typologies — multi-aggregators compensate for 1-WL · All configurations nearly indistinguishable per typology — RWPE's MCC gain (34.5) is aggregate, not typology-specific · Integration &amp; ALL LAUNDERING hardest for all (~0.75–0.85 PR-AUC)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FINDINGS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Conclusions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experiments tell us about feature engineering and 1-WL limitations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42245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80160"/>
            <a:ext cx="422452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Feature engineering DOES mitigate 1-WL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700784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GFP and RWPE both provide meaningful uplift. GFP increases PR-AUC by +15–20 pp for GINe/GAT; RWPE gives PNA +3.95 MCC. Structures invisible to 1-WL are captured when pre-computed as features.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27448" y="1280160"/>
            <a:ext cx="42245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1280160"/>
            <a:ext cx="422452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37176" y="1325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Split Projection: best strategy for GINe &amp; GAT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37176" y="1700784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Bypassing GFP from the encoder and injecting directly into the decoder outperforms standard GFP for both architectures. GINe+GFP Split: PR-AUC 22.73%, MCC 31.54 — best GINE result.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3154680"/>
            <a:ext cx="42245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154680"/>
            <a:ext cx="422452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RWPE + PNA synergy is remarkable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" y="3575304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RWPE's structural node identity amplifies PNA's degree-aware scalers. PNA+RWPE achieves highest MCC (34.49) = best class separability. RWPE adds little to GAT/GINe without PNA's multi-aggregator framework.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27448" y="3154680"/>
            <a:ext cx="42245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3154680"/>
            <a:ext cx="4224528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37176" y="3200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PNA baseline is surprisingly strong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37176" y="3575304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PNA achieves PR-AUC 21.73% with no extra features — competitive with GFP-enhanced GINe/GAT. Multiple aggregators + degree-aware scalers inherently capture richer structure than single-aggregator GNNs.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28016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20040" y="93268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experiments and potential improvements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61872"/>
            <a:ext cx="8503920" cy="1389888"/>
          </a:xfrm>
          <a:prstGeom prst="rect">
            <a:avLst/>
          </a:prstGeom>
          <a:solidFill>
            <a:srgbClr val="0B1F3A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61872"/>
            <a:ext cx="85039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Primary Untested Experiment: GFP Split + RWPE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82496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split projection (clean encoder) with RWPE node embeddings (13-dim nodes + baseline 16-dim encoder). Decoder: cat(h_src, h_dst, e_base, e_gfp). Expected to combine best of both strategies — strongest predicted configuration for GINe and GAT especially.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8346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8986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Higher-Order GNNs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18211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k-WL models (OSAN, NGNN) that provably exceed 1-WL — theoretical upper bound vs. feature engineering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64408" y="28346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55848" y="28986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Full GFP Config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318211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lc-cycle max_len=10 (paper default vs. our 6) — capture longer laundering cycles spanning more jurisdictions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08776" y="28346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00216" y="28986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Temporal GNNs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0216" y="318211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TGN / TGAT: explicit temporal modelling may better capture rapid layering within short time windows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9319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11480" y="3995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Ensemble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42793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GINe+GFP Split + PNA+RWPE ensemble — complementary strengths may achieve best precision-recall balance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64408" y="39319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55848" y="3995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Feature Ablation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5848" y="42793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GFP group contributes most? Cycles vs. scatter-gather vs. vertex stats — systematic ablation needed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08776" y="39319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9F2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0216" y="39959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Real-World Data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0216" y="427939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real (non-synthetic) AML datasets — test if structural features generalise beyond IBM synthetic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56992" y="175301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488289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Mining and Applications  ·  Sapienza University of Rome  ·  2026  ·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</TotalTime>
  <Words>3124</Words>
  <Application>Microsoft Office PowerPoint</Application>
  <PresentationFormat>On-screen Show (16:9)</PresentationFormat>
  <Paragraphs>442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 Detection with GNNs and Feature Engineering</dc:title>
  <dc:subject>PptxGenJS Presentation</dc:subject>
  <dc:creator>PptxGenJS</dc:creator>
  <cp:lastModifiedBy>Sandro Khizanishvili</cp:lastModifiedBy>
  <cp:revision>16</cp:revision>
  <dcterms:created xsi:type="dcterms:W3CDTF">2026-05-27T19:51:56Z</dcterms:created>
  <dcterms:modified xsi:type="dcterms:W3CDTF">2026-05-28T13:19:37Z</dcterms:modified>
</cp:coreProperties>
</file>