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  <p:sldMasterId id="2147483664" r:id="rId2"/>
  </p:sldMasterIdLst>
  <p:notesMasterIdLst>
    <p:notesMasterId r:id="rId18"/>
  </p:notesMasterIdLst>
  <p:sldIdLst>
    <p:sldId id="256" r:id="rId3"/>
    <p:sldId id="257" r:id="rId4"/>
    <p:sldId id="258" r:id="rId5"/>
    <p:sldId id="270" r:id="rId6"/>
    <p:sldId id="261" r:id="rId7"/>
    <p:sldId id="262" r:id="rId8"/>
    <p:sldId id="263" r:id="rId9"/>
    <p:sldId id="264" r:id="rId10"/>
    <p:sldId id="272" r:id="rId11"/>
    <p:sldId id="273" r:id="rId12"/>
    <p:sldId id="267" r:id="rId13"/>
    <p:sldId id="268" r:id="rId14"/>
    <p:sldId id="269" r:id="rId15"/>
    <p:sldId id="274" r:id="rId16"/>
    <p:sldId id="271" r:id="rId1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Catamaran" panose="020B0604020202020204" charset="0"/>
      <p:regular r:id="rId20"/>
      <p:bold r:id="rId21"/>
    </p:embeddedFont>
    <p:embeddedFont>
      <p:font typeface="Raleway" pitchFamily="2" charset="-52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59" autoAdjust="0"/>
  </p:normalViewPr>
  <p:slideViewPr>
    <p:cSldViewPr snapToGrid="0">
      <p:cViewPr varScale="1">
        <p:scale>
          <a:sx n="114" d="100"/>
          <a:sy n="114" d="100"/>
        </p:scale>
        <p:origin x="49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e6ada555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3a6e6ada555_2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6e6ada555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a6e6ada555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6e6ada555_5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3a6e6ada555_5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6e6ada555_5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a6e6ada555_5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6750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23318ce58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c23318ce58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6e6ada555_9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3a6e6ada555_9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23318ce58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c23318ce58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23318ce5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c23318ce5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23318ce5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c23318ce5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1819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6e6ada555_5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a6e6ada555_5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6266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23318ce58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3c23318ce58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6e6ada555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6e6ada555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6e6ada555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3a6e6ada555_2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23318ce58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c23318ce58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026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23318ce58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3c23318ce58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2669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atamaran"/>
              <a:buNone/>
              <a:defRPr sz="42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tamaran"/>
              <a:buNone/>
              <a:defRPr sz="1600"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6259425" y="2453225"/>
            <a:ext cx="2884575" cy="269019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/>
          <p:nvPr/>
        </p:nvSpPr>
        <p:spPr>
          <a:xfrm>
            <a:off x="830400" y="1170063"/>
            <a:ext cx="548700" cy="882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379100" y="1170063"/>
            <a:ext cx="548700" cy="882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727650" y="162202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2">
            <a:alphaModFix/>
          </a:blip>
          <a:srcRect l="7087" t="14912" r="9620" b="16522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/>
          <p:nvPr/>
        </p:nvSpPr>
        <p:spPr>
          <a:xfrm rot="10800000" flipH="1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/>
          <p:nvPr/>
        </p:nvSpPr>
        <p:spPr>
          <a:xfrm rot="10800000" flipH="1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subTitle" idx="2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1">
    <p:bg>
      <p:bgPr>
        <a:solidFill>
          <a:schemeClr val="lt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347725" y="198330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48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sz="48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347725" y="2937794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48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sz="48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167025" y="198330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48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sz="48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4167025" y="2937794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48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sz="48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1414300" y="1983327"/>
            <a:ext cx="26525" cy="841231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414300" y="2937820"/>
            <a:ext cx="26525" cy="841231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5233600" y="1983327"/>
            <a:ext cx="26525" cy="841231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5233600" y="2937820"/>
            <a:ext cx="26525" cy="841231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/>
          <p:nvPr/>
        </p:nvSpPr>
        <p:spPr>
          <a:xfrm rot="10800000" flipH="1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 rot="10800000" flipH="1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7922487" y="2407925"/>
            <a:ext cx="1776325" cy="165662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347725" y="387525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48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endParaRPr sz="48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4167025" y="387525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48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sz="48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1414300" y="3875277"/>
            <a:ext cx="26525" cy="841231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233600" y="3875277"/>
            <a:ext cx="26525" cy="841231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770150" y="831575"/>
            <a:ext cx="3300900" cy="1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1"/>
          </p:nvPr>
        </p:nvSpPr>
        <p:spPr>
          <a:xfrm>
            <a:off x="770150" y="2192250"/>
            <a:ext cx="3300900" cy="24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2"/>
          </p:nvPr>
        </p:nvSpPr>
        <p:spPr>
          <a:xfrm>
            <a:off x="5161900" y="83157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2">
            <a:alphaModFix/>
          </a:blip>
          <a:srcRect t="13651" b="17784"/>
          <a:stretch/>
        </p:blipFill>
        <p:spPr>
          <a:xfrm>
            <a:off x="0" y="4597050"/>
            <a:ext cx="6071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 rot="10800000" flipH="1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 rot="10800000" flipH="1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 txBox="1">
            <a:spLocks noGrp="1"/>
          </p:cNvSpPr>
          <p:nvPr>
            <p:ph type="subTitle" idx="3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 rotWithShape="1">
          <a:blip r:embed="rId2">
            <a:alphaModFix/>
          </a:blip>
          <a:srcRect l="7087" t="14912" r="9620" b="16522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tamaran"/>
              <a:buNone/>
              <a:defRPr sz="2800" b="1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sz="28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sz="28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sz="28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sz="28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sz="28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sz="28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sz="28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sz="28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tamaran"/>
              <a:buChar char="●"/>
              <a:defRPr sz="13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sz="1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■"/>
              <a:defRPr sz="1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  <a:defRPr sz="1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sz="1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■"/>
              <a:defRPr sz="1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  <a:defRPr sz="1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sz="1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Catamaran"/>
              <a:buChar char="■"/>
              <a:defRPr sz="11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ctrTitle"/>
          </p:nvPr>
        </p:nvSpPr>
        <p:spPr>
          <a:xfrm>
            <a:off x="774333" y="1370879"/>
            <a:ext cx="7688100" cy="74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Link Prediction vs. Supervised Classification in Graph Neural Networks for Anti-Money Laundering</a:t>
            </a:r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1"/>
          </p:nvPr>
        </p:nvSpPr>
        <p:spPr>
          <a:xfrm>
            <a:off x="3483633" y="3412812"/>
            <a:ext cx="1750800" cy="12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 b="1" dirty="0">
                <a:latin typeface="Calibri"/>
                <a:ea typeface="Calibri"/>
                <a:cs typeface="Calibri"/>
                <a:sym typeface="Calibri"/>
              </a:rPr>
              <a:t> Sandro Khizanishvili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200" b="1" dirty="0">
                <a:latin typeface="Calibri"/>
                <a:ea typeface="Calibri"/>
                <a:cs typeface="Calibri"/>
                <a:sym typeface="Calibri"/>
              </a:rPr>
              <a:t>Signal Processing for Machine Learning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200" i="1" dirty="0">
                <a:latin typeface="Calibri"/>
                <a:ea typeface="Calibri"/>
                <a:cs typeface="Calibri"/>
                <a:sym typeface="Calibri"/>
              </a:rPr>
              <a:t>Sapienza University of Rome</a:t>
            </a:r>
            <a:endParaRPr sz="1200"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3990155" y="4700100"/>
            <a:ext cx="1108211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Feb</a:t>
            </a:r>
            <a:r>
              <a:rPr lang="en" sz="13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202</a:t>
            </a:r>
            <a:r>
              <a:rPr lang="en" sz="1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0897" y="2187037"/>
            <a:ext cx="1714500" cy="1277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ubTitle" idx="2"/>
          </p:nvPr>
        </p:nvSpPr>
        <p:spPr>
          <a:xfrm>
            <a:off x="1421238" y="4749851"/>
            <a:ext cx="69837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900"/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SPML  - </a:t>
            </a:r>
            <a:r>
              <a:rPr lang="en-US" sz="9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Link Prediction vs. Supervised Classification in Graph Neural Networks for Anti-Money Laundering</a:t>
            </a:r>
            <a:endParaRPr dirty="0"/>
          </a:p>
        </p:txBody>
      </p:sp>
      <p:sp>
        <p:nvSpPr>
          <p:cNvPr id="118" name="Google Shape;118;p19"/>
          <p:cNvSpPr/>
          <p:nvPr/>
        </p:nvSpPr>
        <p:spPr>
          <a:xfrm>
            <a:off x="472339" y="58549"/>
            <a:ext cx="407700" cy="383400"/>
          </a:xfrm>
          <a:prstGeom prst="ellipse">
            <a:avLst/>
          </a:prstGeom>
          <a:solidFill>
            <a:srgbClr val="AD0505"/>
          </a:solidFill>
          <a:ln w="25400" cap="flat" cmpd="sng">
            <a:solidFill>
              <a:srgbClr val="AD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472339" y="692928"/>
            <a:ext cx="3993000" cy="331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Calibri"/>
              <a:buChar char="●"/>
            </a:pPr>
            <a:r>
              <a:rPr lang="en-US" sz="12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Economic Impact:</a:t>
            </a:r>
            <a:r>
              <a:rPr lang="en-US" sz="12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Global money laundering accounts for 2–5% of GDP (€1.7 T – €4T), yet detection remains inefficient.</a:t>
            </a: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Calibri"/>
              <a:buChar char="●"/>
            </a:pPr>
            <a:r>
              <a:rPr lang="en-US" sz="12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False Alarms:</a:t>
            </a:r>
            <a:r>
              <a:rPr lang="en-US" sz="12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Current rule-based systems suffer from &gt;95% False Positive Rates, burying real threats in noise.</a:t>
            </a: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Calibri"/>
              <a:buChar char="●"/>
            </a:pPr>
            <a:r>
              <a:rPr lang="en-US" sz="12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Label Scarcity:</a:t>
            </a:r>
            <a:r>
              <a:rPr lang="en-US" sz="12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Real-world AML labels are rare, delayed, and expensive, making standard supervised learning impractical.</a:t>
            </a: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Calibri"/>
              <a:buChar char="●"/>
            </a:pPr>
            <a:r>
              <a:rPr lang="en-US" sz="12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The Opportunity:</a:t>
            </a:r>
            <a:r>
              <a:rPr lang="en-US" sz="12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Financial data is inherently relational. Graphs allow us to move beyond transaction "snapshots" to full structural context.</a:t>
            </a:r>
          </a:p>
        </p:txBody>
      </p:sp>
      <p:sp>
        <p:nvSpPr>
          <p:cNvPr id="120" name="Google Shape;120;p19"/>
          <p:cNvSpPr txBox="1"/>
          <p:nvPr/>
        </p:nvSpPr>
        <p:spPr>
          <a:xfrm>
            <a:off x="676189" y="40637"/>
            <a:ext cx="729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tamaran"/>
              <a:buNone/>
            </a:pPr>
            <a:r>
              <a:rPr lang="en" sz="18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dirty="0"/>
          </a:p>
        </p:txBody>
      </p:sp>
      <p:pic>
        <p:nvPicPr>
          <p:cNvPr id="121" name="Google Shape;121;p19" descr="can you change black background to more bright color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7252" y="815203"/>
            <a:ext cx="3563400" cy="3194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A03020B-84B4-3161-30B5-7F53F0978D0D}"/>
              </a:ext>
            </a:extLst>
          </p:cNvPr>
          <p:cNvCxnSpPr/>
          <p:nvPr/>
        </p:nvCxnSpPr>
        <p:spPr>
          <a:xfrm>
            <a:off x="4823791" y="692928"/>
            <a:ext cx="0" cy="331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subTitle" idx="2"/>
          </p:nvPr>
        </p:nvSpPr>
        <p:spPr>
          <a:xfrm>
            <a:off x="1475192" y="4735891"/>
            <a:ext cx="6867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9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SPML  - </a:t>
            </a:r>
            <a:r>
              <a:rPr lang="en-US" sz="9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Link Prediction vs. Supervised Classification in Graph Neural Networks for Anti-Money Laundering</a:t>
            </a:r>
            <a:endParaRPr lang="en-US" dirty="0"/>
          </a:p>
        </p:txBody>
      </p:sp>
      <p:sp>
        <p:nvSpPr>
          <p:cNvPr id="128" name="Google Shape;128;p20"/>
          <p:cNvSpPr/>
          <p:nvPr/>
        </p:nvSpPr>
        <p:spPr>
          <a:xfrm>
            <a:off x="472339" y="58549"/>
            <a:ext cx="407700" cy="383400"/>
          </a:xfrm>
          <a:prstGeom prst="ellipse">
            <a:avLst/>
          </a:prstGeom>
          <a:solidFill>
            <a:srgbClr val="AD0505"/>
          </a:solidFill>
          <a:ln w="25400" cap="flat" cmpd="sng">
            <a:solidFill>
              <a:srgbClr val="AD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676189" y="18792"/>
            <a:ext cx="72975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tamaran"/>
              <a:buNone/>
            </a:pPr>
            <a:r>
              <a:rPr lang="en-US" sz="1800" b="1" i="0" u="none" strike="noStrike" cap="none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Methodology: </a:t>
            </a:r>
            <a:r>
              <a:rPr lang="en-US" sz="1800" b="1" i="0" u="none" strike="noStrike" cap="none" dirty="0" err="1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LaundroGraph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19;p19">
                <a:extLst>
                  <a:ext uri="{FF2B5EF4-FFF2-40B4-BE49-F238E27FC236}">
                    <a16:creationId xmlns:a16="http://schemas.microsoft.com/office/drawing/2014/main" id="{5E6FC0A9-1FAC-5A77-E32C-4C3616AFF330}"/>
                  </a:ext>
                </a:extLst>
              </p:cNvPr>
              <p:cNvSpPr txBox="1"/>
              <p:nvPr/>
            </p:nvSpPr>
            <p:spPr>
              <a:xfrm>
                <a:off x="5830143" y="584523"/>
                <a:ext cx="3128682" cy="3567319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04800" indent="-304800">
                  <a:spcBef>
                    <a:spcPts val="1200"/>
                  </a:spcBef>
                  <a:buClr>
                    <a:srgbClr val="424242"/>
                  </a:buClr>
                  <a:buSzPts val="1200"/>
                  <a:buFont typeface="Calibri"/>
                  <a:buChar char="●"/>
                </a:pPr>
                <a:r>
                  <a:rPr lang="en-US" sz="1000" b="1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Graph Design: </a:t>
                </a:r>
                <a:r>
                  <a:rPr lang="en-US" sz="1000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 </a:t>
                </a:r>
                <a:r>
                  <a:rPr lang="en-US" sz="1000" b="1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Directed Bipartite Graph              </a:t>
                </a:r>
                <a14:m>
                  <m:oMath xmlns:m="http://schemas.openxmlformats.org/officeDocument/2006/math"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𝑮</m:t>
                    </m:r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=(</m:t>
                    </m:r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𝑪</m:t>
                    </m:r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∪</m:t>
                    </m:r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𝑻</m:t>
                    </m:r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, </m:t>
                    </m:r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𝑬</m:t>
                    </m:r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)</m:t>
                    </m:r>
                  </m:oMath>
                </a14:m>
                <a:r>
                  <a:rPr lang="en-US" sz="1000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 linking Customers</a:t>
                </a:r>
                <a14:m>
                  <m:oMath xmlns:m="http://schemas.openxmlformats.org/officeDocument/2006/math">
                    <m:r>
                      <a:rPr lang="en-US" sz="1000" b="0" i="0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 </m:t>
                    </m:r>
                    <m:r>
                      <a:rPr lang="en-US" sz="1000" b="0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(</m:t>
                    </m:r>
                    <m:r>
                      <a:rPr lang="en-US" sz="1000" b="0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𝐶</m:t>
                    </m:r>
                    <m:r>
                      <a:rPr lang="en-US" sz="1000" b="0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)</m:t>
                    </m:r>
                  </m:oMath>
                </a14:m>
                <a:r>
                  <a:rPr lang="en-US" sz="1000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and Transactions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000" b="0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dPr>
                      <m:e>
                        <m:r>
                          <a:rPr lang="en-US" sz="1000" b="0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𝑇</m:t>
                        </m:r>
                      </m:e>
                    </m:d>
                    <m:r>
                      <a:rPr lang="en-US" sz="1000" b="0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.</m:t>
                    </m:r>
                  </m:oMath>
                </a14:m>
                <a:endParaRPr lang="en-US" sz="1000" dirty="0">
                  <a:solidFill>
                    <a:srgbClr val="42424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304800" indent="-304800">
                  <a:spcBef>
                    <a:spcPts val="1200"/>
                  </a:spcBef>
                  <a:buClr>
                    <a:srgbClr val="424242"/>
                  </a:buClr>
                  <a:buSzPts val="1200"/>
                  <a:buFont typeface="Calibri"/>
                  <a:buChar char="●"/>
                </a:pPr>
                <a:r>
                  <a:rPr lang="en-US" sz="1000" b="1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Learning Task: </a:t>
                </a:r>
                <a:r>
                  <a:rPr lang="en-US" sz="1000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Self-Supervised </a:t>
                </a:r>
                <a:r>
                  <a:rPr lang="en-US" sz="1000" b="1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 Prediction </a:t>
                </a:r>
                <a:r>
                  <a:rPr lang="en-US" sz="1000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via graph reconstruction (</a:t>
                </a:r>
                <a:r>
                  <a:rPr lang="en-US" sz="1000" b="1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labels required</a:t>
                </a:r>
                <a:r>
                  <a:rPr lang="en-US" sz="1000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).</a:t>
                </a:r>
              </a:p>
              <a:p>
                <a:pPr marL="304800" indent="-304800">
                  <a:spcBef>
                    <a:spcPts val="1200"/>
                  </a:spcBef>
                  <a:buClr>
                    <a:srgbClr val="424242"/>
                  </a:buClr>
                  <a:buSzPts val="1200"/>
                  <a:buFont typeface="Calibri"/>
                  <a:buChar char="●"/>
                </a:pPr>
                <a:r>
                  <a:rPr lang="en-US" sz="1000" b="1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Encoder-Decoder Architecture:</a:t>
                </a:r>
              </a:p>
              <a:p>
                <a:pPr marL="517525" indent="-304800">
                  <a:spcBef>
                    <a:spcPts val="1200"/>
                  </a:spcBef>
                  <a:buClr>
                    <a:srgbClr val="424242"/>
                  </a:buClr>
                  <a:buSzPts val="1200"/>
                  <a:buFont typeface="Calibri"/>
                  <a:buChar char="●"/>
                </a:pPr>
                <a:r>
                  <a:rPr lang="en-US" sz="1000" b="1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Encoder: </a:t>
                </a:r>
                <a:r>
                  <a:rPr lang="en-US" sz="1000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Aggregates neighborhood signals via </a:t>
                </a:r>
                <a:r>
                  <a:rPr lang="en-US" sz="1000" b="1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Graph Attention (GAT)</a:t>
                </a:r>
                <a:r>
                  <a:rPr lang="en-US" sz="1000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to project nodes into a shared latent space   </a:t>
                </a:r>
                <a14:m>
                  <m:oMath xmlns:m="http://schemas.openxmlformats.org/officeDocument/2006/math"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(</m:t>
                    </m:r>
                    <m:sSub>
                      <m:sSubPr>
                        <m:ctrlPr>
                          <a:rPr lang="en-US" sz="10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𝒛</m:t>
                        </m:r>
                      </m:e>
                      <m:sub>
                        <m:r>
                          <a:rPr lang="en-US" sz="10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𝒄</m:t>
                        </m:r>
                      </m:sub>
                    </m:sSub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, </m:t>
                    </m:r>
                    <m:sSub>
                      <m:sSubPr>
                        <m:ctrlPr>
                          <a:rPr lang="en-US" sz="10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𝒛</m:t>
                        </m:r>
                      </m:e>
                      <m:sub>
                        <m:r>
                          <a:rPr lang="en-US" sz="10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𝒕</m:t>
                        </m:r>
                      </m:sub>
                    </m:sSub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 </m:t>
                    </m:r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∈ </m:t>
                    </m:r>
                    <m:sSup>
                      <m:sSupPr>
                        <m:ctrlPr>
                          <a:rPr lang="en-US" sz="10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pPr>
                      <m:e>
                        <m:r>
                          <a:rPr lang="en-US" sz="10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ℝ</m:t>
                        </m:r>
                      </m:e>
                      <m:sup>
                        <m:r>
                          <a:rPr lang="en-US" sz="10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𝒅</m:t>
                        </m:r>
                      </m:sup>
                    </m:sSup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)</m:t>
                    </m:r>
                  </m:oMath>
                </a14:m>
                <a:r>
                  <a:rPr lang="en-US" sz="1000" b="1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</a:p>
              <a:p>
                <a:pPr marL="517525" indent="-304800">
                  <a:spcBef>
                    <a:spcPts val="1200"/>
                  </a:spcBef>
                  <a:buClr>
                    <a:srgbClr val="424242"/>
                  </a:buClr>
                  <a:buSzPts val="1200"/>
                  <a:buFont typeface="Calibri"/>
                  <a:buChar char="●"/>
                </a:pPr>
                <a:r>
                  <a:rPr lang="en-US" sz="1000" b="1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Decoder: </a:t>
                </a:r>
                <a:r>
                  <a:rPr lang="en-US" sz="1000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Interaction function                             </a:t>
                </a:r>
                <a14:m>
                  <m:oMath xmlns:m="http://schemas.openxmlformats.org/officeDocument/2006/math">
                    <m:r>
                      <a:rPr lang="en-US" sz="1000" b="0" i="0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 </m:t>
                    </m:r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𝒔</m:t>
                    </m:r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= </m:t>
                    </m:r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𝝈</m:t>
                    </m:r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(</m:t>
                    </m:r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𝑾</m:t>
                    </m:r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[</m:t>
                    </m:r>
                    <m:sSub>
                      <m:sSubPr>
                        <m:ctrlPr>
                          <a:rPr lang="en-US" sz="1000" b="1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1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𝒛</m:t>
                        </m:r>
                      </m:e>
                      <m:sub>
                        <m:r>
                          <a:rPr lang="en-US" sz="1000" b="1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𝒄</m:t>
                        </m:r>
                      </m:sub>
                    </m:sSub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 </m:t>
                    </m:r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⊙</m:t>
                    </m:r>
                    <m:sSub>
                      <m:sSubPr>
                        <m:ctrlPr>
                          <a:rPr lang="en-US" sz="1000" b="1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1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𝒛</m:t>
                        </m:r>
                      </m:e>
                      <m:sub>
                        <m:r>
                          <a:rPr lang="en-US" sz="10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𝒕</m:t>
                        </m:r>
                      </m:sub>
                    </m:sSub>
                    <m:r>
                      <a:rPr lang="en-US" sz="10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]) </m:t>
                    </m:r>
                  </m:oMath>
                </a14:m>
                <a:r>
                  <a:rPr lang="en-US" sz="1000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using the </a:t>
                </a:r>
                <a:r>
                  <a:rPr lang="en-US" sz="1000" b="1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Hadamard</a:t>
                </a:r>
                <a:r>
                  <a:rPr lang="en-US" sz="1000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product to score link compatibility.</a:t>
                </a:r>
              </a:p>
              <a:p>
                <a:pPr marL="304800" indent="-304800">
                  <a:spcBef>
                    <a:spcPts val="1200"/>
                  </a:spcBef>
                  <a:buClr>
                    <a:srgbClr val="424242"/>
                  </a:buClr>
                  <a:buSzPts val="1200"/>
                  <a:buFont typeface="Calibri"/>
                  <a:buChar char="●"/>
                </a:pPr>
                <a:r>
                  <a:rPr lang="en-US" sz="1000" b="1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The Logic: </a:t>
                </a:r>
                <a:r>
                  <a:rPr lang="en-US" sz="1000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 with low predicted probability is flagged as </a:t>
                </a:r>
                <a:r>
                  <a:rPr lang="en-US" sz="1000" b="1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Structural Anomaly </a:t>
                </a:r>
                <a:r>
                  <a:rPr lang="en-US" sz="1000" dirty="0">
                    <a:solidFill>
                      <a:srgbClr val="42424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(Potential Money Laundering).</a:t>
                </a:r>
              </a:p>
            </p:txBody>
          </p:sp>
        </mc:Choice>
        <mc:Fallback xmlns="">
          <p:sp>
            <p:nvSpPr>
              <p:cNvPr id="3" name="Google Shape;119;p19">
                <a:extLst>
                  <a:ext uri="{FF2B5EF4-FFF2-40B4-BE49-F238E27FC236}">
                    <a16:creationId xmlns:a16="http://schemas.microsoft.com/office/drawing/2014/main" id="{5E6FC0A9-1FAC-5A77-E32C-4C3616AFF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143" y="584523"/>
                <a:ext cx="3128682" cy="35673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A527C60-ACF8-7941-2816-5C07471B8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091" y="716274"/>
            <a:ext cx="5528920" cy="30672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subTitle" idx="2"/>
          </p:nvPr>
        </p:nvSpPr>
        <p:spPr>
          <a:xfrm>
            <a:off x="1475192" y="4735891"/>
            <a:ext cx="6867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9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SPML  - </a:t>
            </a:r>
            <a:r>
              <a:rPr lang="en-US" sz="9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Link Prediction vs. Supervised Classification in Graph Neural Networks for Anti-Money Laundering</a:t>
            </a:r>
            <a:endParaRPr lang="en-US" dirty="0"/>
          </a:p>
        </p:txBody>
      </p:sp>
      <p:sp>
        <p:nvSpPr>
          <p:cNvPr id="146" name="Google Shape;146;p22"/>
          <p:cNvSpPr/>
          <p:nvPr/>
        </p:nvSpPr>
        <p:spPr>
          <a:xfrm>
            <a:off x="472339" y="58549"/>
            <a:ext cx="407700" cy="383400"/>
          </a:xfrm>
          <a:prstGeom prst="ellipse">
            <a:avLst/>
          </a:prstGeom>
          <a:solidFill>
            <a:srgbClr val="AD0505"/>
          </a:solidFill>
          <a:ln w="25400" cap="flat" cmpd="sng">
            <a:solidFill>
              <a:srgbClr val="AD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715100" y="19173"/>
            <a:ext cx="729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tamaran"/>
              <a:buNone/>
            </a:pPr>
            <a:r>
              <a:rPr lang="en-US" sz="18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Dataset &amp; Feature Engineering (SAML-D)</a:t>
            </a:r>
            <a:endParaRPr lang="en-US" dirty="0"/>
          </a:p>
        </p:txBody>
      </p:sp>
      <p:sp>
        <p:nvSpPr>
          <p:cNvPr id="2" name="Google Shape;149;p22">
            <a:extLst>
              <a:ext uri="{FF2B5EF4-FFF2-40B4-BE49-F238E27FC236}">
                <a16:creationId xmlns:a16="http://schemas.microsoft.com/office/drawing/2014/main" id="{B1C40855-C181-CA10-6763-847800D60985}"/>
              </a:ext>
            </a:extLst>
          </p:cNvPr>
          <p:cNvSpPr txBox="1"/>
          <p:nvPr/>
        </p:nvSpPr>
        <p:spPr>
          <a:xfrm>
            <a:off x="105806" y="615340"/>
            <a:ext cx="3993000" cy="220737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78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Composition: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855k Customers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9.5M Transactions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171450" lvl="0" indent="-1778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•"/>
            </a:pPr>
            <a:endParaRPr lang="en-US" sz="10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78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Typologies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: 28 distinct behavioral patterns (17 suspicious / 11 normal)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</a:pPr>
            <a:endParaRPr lang="en-US" sz="10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78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Temporal Split:</a:t>
            </a:r>
          </a:p>
          <a:p>
            <a:pPr marL="284163" lvl="1" indent="-177800"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Profile Window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(2022/10 – 2023/02):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Customer Profiling Period.</a:t>
            </a:r>
          </a:p>
          <a:p>
            <a:pPr marL="284163" lvl="1" indent="-177800">
              <a:buClr>
                <a:schemeClr val="accent1"/>
              </a:buClr>
              <a:buSzPts val="1200"/>
              <a:buFont typeface="Calibri"/>
              <a:buChar char="•"/>
            </a:pPr>
            <a:endParaRPr lang="en-US" sz="10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4163" lvl="1" indent="-177800"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Training Window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(2023/03 – 2023/07): 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Model learning phase.</a:t>
            </a:r>
          </a:p>
          <a:p>
            <a:pPr marL="284163" lvl="1" indent="-177800">
              <a:buClr>
                <a:schemeClr val="accent1"/>
              </a:buClr>
              <a:buSzPts val="1200"/>
              <a:buFont typeface="Calibri"/>
              <a:buChar char="•"/>
            </a:pPr>
            <a:endParaRPr lang="en-US" sz="10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4163" lvl="1" indent="-177800"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Testing Window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(2023/08):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Out-of-time evaluation on unseen future transactions.</a:t>
            </a:r>
          </a:p>
          <a:p>
            <a:pPr marL="284163" lvl="1" indent="-177800">
              <a:buClr>
                <a:schemeClr val="accent1"/>
              </a:buClr>
              <a:buSzPts val="1200"/>
              <a:buFont typeface="Calibri"/>
              <a:buChar char="•"/>
            </a:pPr>
            <a:endParaRPr lang="en-US" sz="10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lvl="1" indent="-177800"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Laundering Rate (Target):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0.1%.</a:t>
            </a:r>
          </a:p>
        </p:txBody>
      </p:sp>
      <p:sp>
        <p:nvSpPr>
          <p:cNvPr id="5" name="Google Shape;149;p22">
            <a:extLst>
              <a:ext uri="{FF2B5EF4-FFF2-40B4-BE49-F238E27FC236}">
                <a16:creationId xmlns:a16="http://schemas.microsoft.com/office/drawing/2014/main" id="{BEBEBEC3-916C-7FFF-580A-27D1F48B2A5C}"/>
              </a:ext>
            </a:extLst>
          </p:cNvPr>
          <p:cNvSpPr txBox="1"/>
          <p:nvPr/>
        </p:nvSpPr>
        <p:spPr>
          <a:xfrm>
            <a:off x="4817652" y="524907"/>
            <a:ext cx="3993000" cy="257597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</a:pPr>
            <a:r>
              <a:rPr lang="en-US" sz="11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Customer Nodes (123 Dimensions):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</a:pPr>
            <a:endParaRPr lang="en-US" sz="10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78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Behavioral Aggregates: 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Historical transaction volume, frequency (velocity), In/Out fund balance, cash-volume ratios, avg. "Cash-to-Wire" speed, rapid "In-and-Out" counts.</a:t>
            </a:r>
          </a:p>
          <a:p>
            <a:pPr marL="171450" lvl="0" indent="-177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Anomaly Indicators: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Engineered counts for "Structuring" behavior</a:t>
            </a:r>
          </a:p>
          <a:p>
            <a:pPr marL="171450" lvl="0" indent="-1778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Risk Context: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Density of interactions with high-risk jurisdictions or sanctioned entities.</a:t>
            </a:r>
          </a:p>
          <a:p>
            <a:pPr marL="171450" lvl="0" indent="-1778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•"/>
            </a:pPr>
            <a:endParaRPr lang="en-US" sz="10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accent1"/>
              </a:buClr>
              <a:buSzPts val="1200"/>
            </a:pPr>
            <a:r>
              <a:rPr lang="en" sz="11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Transaction</a:t>
            </a:r>
            <a:r>
              <a:rPr lang="en-US" sz="11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Nodes (49 Dimensions):</a:t>
            </a:r>
          </a:p>
          <a:p>
            <a:pPr>
              <a:buClr>
                <a:schemeClr val="accent1"/>
              </a:buClr>
              <a:buSzPts val="1200"/>
            </a:pPr>
            <a:endParaRPr lang="en-US" sz="10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Intrinsic Properties: 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Numerical amount (log-normalized), currency types,  payment channels, bank locations.</a:t>
            </a:r>
          </a:p>
          <a:p>
            <a:pPr marL="171450" indent="-171450"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Temporal Dynamics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: Cyclic time features (Hour/Day) and "Latency" (the speed at which funds move from cash-to-wire).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</a:pPr>
            <a:endParaRPr lang="en-US" sz="10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E73545-8F19-558C-80B0-E2DD8AC5C543}"/>
              </a:ext>
            </a:extLst>
          </p:cNvPr>
          <p:cNvCxnSpPr>
            <a:cxnSpLocks/>
          </p:cNvCxnSpPr>
          <p:nvPr/>
        </p:nvCxnSpPr>
        <p:spPr>
          <a:xfrm>
            <a:off x="4485862" y="574159"/>
            <a:ext cx="0" cy="2387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76664F6-2317-5506-CEE9-8E66E807A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77" y="3422905"/>
            <a:ext cx="8971325" cy="9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84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subTitle" idx="2"/>
          </p:nvPr>
        </p:nvSpPr>
        <p:spPr>
          <a:xfrm>
            <a:off x="1475192" y="4735891"/>
            <a:ext cx="6867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9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SPML  - </a:t>
            </a:r>
            <a:r>
              <a:rPr lang="en-US" sz="9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Link Prediction vs. Supervised Classification in Graph Neural Networks for Anti-Money Laundering</a:t>
            </a:r>
            <a:endParaRPr lang="en-US" dirty="0"/>
          </a:p>
        </p:txBody>
      </p:sp>
      <p:sp>
        <p:nvSpPr>
          <p:cNvPr id="158" name="Google Shape;158;p23"/>
          <p:cNvSpPr/>
          <p:nvPr/>
        </p:nvSpPr>
        <p:spPr>
          <a:xfrm>
            <a:off x="472339" y="58549"/>
            <a:ext cx="407700" cy="383400"/>
          </a:xfrm>
          <a:prstGeom prst="ellipse">
            <a:avLst/>
          </a:prstGeom>
          <a:solidFill>
            <a:srgbClr val="AD0505"/>
          </a:solidFill>
          <a:ln w="25400" cap="flat" cmpd="sng">
            <a:solidFill>
              <a:srgbClr val="AD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611445" y="13975"/>
            <a:ext cx="729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tamaran"/>
              <a:buNone/>
            </a:pPr>
            <a:r>
              <a:rPr lang="en" sz="18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Graph Construction</a:t>
            </a:r>
            <a:endParaRPr dirty="0"/>
          </a:p>
        </p:txBody>
      </p:sp>
      <p:pic>
        <p:nvPicPr>
          <p:cNvPr id="161" name="Google Shape;161;p23" title="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571420"/>
            <a:ext cx="4373850" cy="346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/>
        </p:nvSpPr>
        <p:spPr>
          <a:xfrm>
            <a:off x="472339" y="970964"/>
            <a:ext cx="3543071" cy="233545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</a:pPr>
            <a:r>
              <a:rPr lang="en" sz="1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Node Counts:</a:t>
            </a:r>
          </a:p>
          <a:p>
            <a:pPr marL="344488" lvl="0" indent="-185738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" sz="1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Total Customers:       </a:t>
            </a:r>
            <a:r>
              <a:rPr lang="en" sz="1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0.7M</a:t>
            </a:r>
          </a:p>
          <a:p>
            <a:pPr marL="344488" lvl="0" indent="-185738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" sz="1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Total Transactions:   </a:t>
            </a:r>
            <a:r>
              <a:rPr lang="en" sz="1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5.2M</a:t>
            </a:r>
          </a:p>
          <a:p>
            <a:pPr marL="344488" lvl="0" indent="-185738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" sz="1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Graph Ratio:  </a:t>
            </a:r>
            <a:r>
              <a:rPr lang="en" sz="1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Customer ≈ 8 Transactions</a:t>
            </a:r>
            <a:endParaRPr sz="12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buClr>
                <a:schemeClr val="accent1"/>
              </a:buClr>
              <a:buSzPts val="1200"/>
            </a:pPr>
            <a:r>
              <a:rPr lang="en" sz="1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Edge Splits:</a:t>
            </a:r>
          </a:p>
          <a:p>
            <a:pPr marL="185738" indent="-185738" algn="just"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" sz="1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Training Edges:          </a:t>
            </a:r>
            <a:r>
              <a:rPr lang="ka-GE" sz="1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4.5</a:t>
            </a:r>
            <a:r>
              <a:rPr lang="en-US" sz="1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</a:p>
          <a:p>
            <a:pPr marL="344488" indent="-185738" algn="just"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" sz="1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Message Passing</a:t>
            </a:r>
            <a:r>
              <a:rPr lang="en-US" sz="1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2.3M (50%)</a:t>
            </a:r>
          </a:p>
          <a:p>
            <a:pPr marL="344488" indent="-185738" algn="just"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" sz="1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Supervision:          </a:t>
            </a:r>
            <a:r>
              <a:rPr lang="en" sz="1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1.4M (30%)</a:t>
            </a:r>
          </a:p>
          <a:p>
            <a:pPr marL="344488" indent="-185738" algn="just"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" sz="1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Validation:             </a:t>
            </a:r>
            <a:r>
              <a:rPr lang="en" sz="1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0.9M (20%)</a:t>
            </a:r>
          </a:p>
          <a:p>
            <a:pPr marL="344488" indent="-185738" algn="just">
              <a:buClr>
                <a:schemeClr val="accent1"/>
              </a:buClr>
              <a:buSzPts val="1200"/>
              <a:buFont typeface="Calibri"/>
              <a:buChar char="•"/>
            </a:pPr>
            <a:endParaRPr lang="en-US" sz="12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5738" lvl="1" indent="-185738" algn="just"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" sz="1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Test Edges:  </a:t>
            </a:r>
            <a:r>
              <a:rPr lang="en" sz="1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0.7M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B640AD9-5FDB-7F46-84BA-1E14DA083B72}"/>
              </a:ext>
            </a:extLst>
          </p:cNvPr>
          <p:cNvCxnSpPr>
            <a:cxnSpLocks/>
          </p:cNvCxnSpPr>
          <p:nvPr/>
        </p:nvCxnSpPr>
        <p:spPr>
          <a:xfrm>
            <a:off x="4485862" y="574159"/>
            <a:ext cx="0" cy="34644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ubTitle" idx="2"/>
          </p:nvPr>
        </p:nvSpPr>
        <p:spPr>
          <a:xfrm>
            <a:off x="1475192" y="4735891"/>
            <a:ext cx="6867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9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SPML  - </a:t>
            </a:r>
            <a:r>
              <a:rPr lang="en-US" sz="9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Link Prediction vs. Supervised Classification in Graph Neural Networks for Anti-Money Laundering</a:t>
            </a:r>
            <a:endParaRPr lang="en-US" dirty="0"/>
          </a:p>
        </p:txBody>
      </p:sp>
      <p:sp>
        <p:nvSpPr>
          <p:cNvPr id="169" name="Google Shape;169;p24"/>
          <p:cNvSpPr/>
          <p:nvPr/>
        </p:nvSpPr>
        <p:spPr>
          <a:xfrm>
            <a:off x="472339" y="58549"/>
            <a:ext cx="407700" cy="383400"/>
          </a:xfrm>
          <a:prstGeom prst="ellipse">
            <a:avLst/>
          </a:prstGeom>
          <a:solidFill>
            <a:srgbClr val="AD0505"/>
          </a:solidFill>
          <a:ln w="25400" cap="flat" cmpd="sng">
            <a:solidFill>
              <a:srgbClr val="AD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676189" y="48349"/>
            <a:ext cx="729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tamaran"/>
              <a:buNone/>
            </a:pPr>
            <a:r>
              <a:rPr lang="en" sz="18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Experiment 1: LaundroGraph (Self-Supervised approach)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Google Shape;171;p24"/>
              <p:cNvSpPr txBox="1"/>
              <p:nvPr/>
            </p:nvSpPr>
            <p:spPr>
              <a:xfrm>
                <a:off x="331939" y="578574"/>
                <a:ext cx="3993000" cy="3986351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Encoder: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</a:t>
                </a: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Linear projection (64)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</a:t>
                </a: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GAT (2 layers, 2 heads)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</a:t>
                </a: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Residual (self + neighbors)</a:t>
                </a:r>
              </a:p>
              <a:p>
                <a:pPr algn="just"/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= </a:t>
                </a: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Node embeddings </a:t>
                </a:r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𝑧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𝑐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, 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𝑧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𝑡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)</m:t>
                    </m:r>
                    <m:r>
                      <a:rPr lang="en-US" sz="1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∈</m:t>
                    </m:r>
                    <m:sSup>
                      <m:sSupPr>
                        <m:ctrlPr>
                          <a:rPr lang="en-US" sz="1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pPr>
                      <m:e>
                        <m:r>
                          <a:rPr lang="en-US" sz="1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ℝ</m:t>
                        </m:r>
                      </m:e>
                      <m:sup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64</m:t>
                        </m:r>
                      </m:sup>
                    </m:sSup>
                  </m:oMath>
                </a14:m>
                <a:endParaRPr lang="ar-AE" sz="1000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ar-AE" sz="1000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Decoder:</a:t>
                </a:r>
              </a:p>
              <a:p>
                <a:pPr lvl="0" algn="just">
                  <a:lnSpc>
                    <a:spcPct val="150000"/>
                  </a:lnSpc>
                </a:pPr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𝑧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𝑒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= 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𝑧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𝑐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 </m:t>
                    </m:r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⊙ 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𝑧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𝑡</m:t>
                        </m:r>
                      </m:sub>
                    </m:sSub>
                    <m:r>
                      <a:rPr lang="en-US" sz="1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∈</m:t>
                    </m:r>
                    <m:sSup>
                      <m:sSupPr>
                        <m:ctrlPr>
                          <a:rPr lang="en-US" sz="1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pPr>
                      <m:e>
                        <m:r>
                          <a:rPr lang="en-US" sz="1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ℝ</m:t>
                        </m:r>
                      </m:e>
                      <m:sup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64</m:t>
                        </m:r>
                      </m:sup>
                    </m:sSup>
                  </m:oMath>
                </a14:m>
                <a:endParaRPr lang="en-US" sz="1000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0" indent="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𝑀𝐿𝑃</m:t>
                    </m:r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(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𝑧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𝑒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)</m:t>
                    </m:r>
                  </m:oMath>
                </a14:m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(64 → 32 → 1)</a:t>
                </a:r>
              </a:p>
              <a:p>
                <a:pPr marL="0" lvl="0" indent="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=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𝑆𝑐𝑜𝑟𝑒</m:t>
                    </m:r>
                    <m:d>
                      <m:dPr>
                        <m:ctrlP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</m:ctrlPr>
                          </m:sSubSupPr>
                          <m:e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𝑐</m:t>
                            </m:r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,</m:t>
                            </m:r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𝑙𝑖𝑛𝑘</m:t>
                            </m:r>
                          </m:sup>
                        </m:sSubSup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=</m:t>
                        </m:r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1</m:t>
                        </m:r>
                      </m:e>
                      <m:e>
                        <m:sSub>
                          <m:sSubPr>
                            <m:ctrlP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𝑐</m:t>
                            </m:r>
                          </m:sub>
                        </m:sSub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, </m:t>
                        </m:r>
                        <m:sSub>
                          <m:sSubPr>
                            <m:ctrlP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,  </m:t>
                    </m:r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𝑤</m:t>
                    </m:r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h</m:t>
                    </m:r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𝑒𝑟𝑒</m:t>
                    </m:r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 </m:t>
                    </m:r>
                    <m:sSubSup>
                      <m:sSubSupPr>
                        <m:ctrlP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Sup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𝑦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𝑐</m:t>
                        </m:r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𝑡</m:t>
                        </m:r>
                      </m:sub>
                      <m:sup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𝑙𝑖𝑛𝑘</m:t>
                        </m:r>
                      </m:sup>
                    </m:sSubSup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d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0</m:t>
                        </m:r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1</m:t>
                        </m:r>
                      </m:e>
                    </m:d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</m:oMath>
                </a14:m>
                <a:endParaRPr lang="en-US" sz="1000" b="0" i="1" dirty="0">
                  <a:solidFill>
                    <a:schemeClr val="accent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endParaRPr>
              </a:p>
              <a:p>
                <a:pPr marL="0" lvl="0" indent="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  <a:sym typeface="Calibri"/>
                        </a:rPr>
                        <m:t>⇒</m:t>
                      </m:r>
                      <m:r>
                        <a:rPr lang="en-US" sz="1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  <a:sym typeface="Calibri"/>
                        </a:rPr>
                        <m:t>𝐴𝑛𝑜𝑚𝑎𝑙𝑦</m:t>
                      </m:r>
                      <m:r>
                        <a:rPr lang="en-US" sz="1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  <a:sym typeface="Calibri"/>
                        </a:rPr>
                        <m:t> </m:t>
                      </m:r>
                      <m:r>
                        <a:rPr lang="en-US" sz="1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  <a:sym typeface="Calibri"/>
                        </a:rPr>
                        <m:t>𝑆𝑐𝑜𝑟𝑒</m:t>
                      </m:r>
                      <m:r>
                        <a:rPr lang="en-US" sz="1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  <a:sym typeface="Calibri"/>
                        </a:rPr>
                        <m:t>=</m:t>
                      </m:r>
                      <m:r>
                        <a:rPr lang="en-US" sz="1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  <a:sym typeface="Calibri"/>
                        </a:rPr>
                        <m:t>1</m:t>
                      </m:r>
                      <m:r>
                        <a:rPr lang="en-US" sz="1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  <a:sym typeface="Calibri"/>
                        </a:rPr>
                        <m:t>−</m:t>
                      </m:r>
                      <m:r>
                        <a:rPr lang="en-US" sz="1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𝑆𝑐𝑜𝑟𝑒</m:t>
                      </m:r>
                      <m:d>
                        <m:dPr>
                          <m:ctrlPr>
                            <a:rPr lang="en-US" sz="1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</m:ctrlPr>
                            </m:sSubSupPr>
                            <m:e>
                              <m:r>
                                <a:rPr lang="en-US" sz="1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  <m:t>𝑐</m:t>
                              </m:r>
                              <m:r>
                                <a:rPr lang="en-US" sz="1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  <m:t>,</m:t>
                              </m:r>
                              <m:r>
                                <a:rPr lang="en-US" sz="1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  <m:t>𝑙𝑖𝑛𝑘</m:t>
                              </m:r>
                            </m:sup>
                          </m:sSubSup>
                          <m:r>
                            <a:rPr lang="en-US" sz="1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=</m:t>
                          </m:r>
                          <m:r>
                            <a:rPr lang="en-US" sz="1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1</m:t>
                          </m:r>
                        </m:e>
                        <m:e>
                          <m:sSub>
                            <m:sSubPr>
                              <m:ctrlPr>
                                <a:rPr lang="en-US" sz="1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  <a:sym typeface="Calibri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000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000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Training Objective:</a:t>
                </a:r>
              </a:p>
              <a:p>
                <a:pPr lvl="0" algn="just"/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The model optimizes </a:t>
                </a:r>
                <a:r>
                  <a:rPr lang="en-US" sz="1000" b="1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Binary Cross-Entropy (BCE) </a:t>
                </a:r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Loss to distinguish between observed edges </a:t>
                </a:r>
                <a14:m>
                  <m:oMath xmlns:m="http://schemas.openxmlformats.org/officeDocument/2006/math">
                    <m:r>
                      <a:rPr lang="en-US" sz="1000" b="1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(</m:t>
                    </m:r>
                    <m:sSup>
                      <m:sSupPr>
                        <m:ctrlPr>
                          <a:rPr lang="en-US" sz="1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pPr>
                      <m:e>
                        <m:r>
                          <a:rPr lang="en-US" sz="1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𝑬</m:t>
                        </m:r>
                      </m:e>
                      <m:sup>
                        <m:r>
                          <a:rPr lang="en-US" sz="1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+</m:t>
                        </m:r>
                      </m:sup>
                    </m:sSup>
                    <m:r>
                      <a:rPr lang="en-US" sz="1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)</m:t>
                    </m:r>
                  </m:oMath>
                </a14:m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and negative sampled edges</a:t>
                </a:r>
                <a14:m>
                  <m:oMath xmlns:m="http://schemas.openxmlformats.org/officeDocument/2006/math">
                    <m:r>
                      <a:rPr lang="en-US" sz="10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 </m:t>
                    </m:r>
                    <m:d>
                      <m:dPr>
                        <m:ctrlPr>
                          <a:rPr lang="en-US" sz="10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0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lang="en-US" sz="10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𝑬</m:t>
                            </m:r>
                          </m:e>
                          <m:sup>
                            <m:r>
                              <a:rPr lang="en-US" sz="10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−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with one negative edge sampled per positive edge (𝑀=1)</a:t>
                </a:r>
              </a:p>
              <a:p>
                <a:pPr lvl="0" algn="just"/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	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Training Hyperparameters: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Learning Rate: 0.001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Neighbors Sampling: 1-hop 20; 2-hop 10;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Batch Size: 2048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000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71" name="Google Shape;171;p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39" y="578574"/>
                <a:ext cx="3993000" cy="39863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with a line&#10;&#10;Description automatically generated">
            <a:extLst>
              <a:ext uri="{FF2B5EF4-FFF2-40B4-BE49-F238E27FC236}">
                <a16:creationId xmlns:a16="http://schemas.microsoft.com/office/drawing/2014/main" id="{B3702E68-6DC7-1003-E275-2192BD9BB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0727" y="923891"/>
            <a:ext cx="4161334" cy="30479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subTitle" idx="2"/>
          </p:nvPr>
        </p:nvSpPr>
        <p:spPr>
          <a:xfrm>
            <a:off x="1475192" y="4735891"/>
            <a:ext cx="6867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9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SPML  - </a:t>
            </a:r>
            <a:r>
              <a:rPr lang="en-US" sz="9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Link Prediction vs. Supervised Classification in Graph Neural Networks for Anti-Money Laundering</a:t>
            </a:r>
            <a:endParaRPr lang="en-US" dirty="0"/>
          </a:p>
        </p:txBody>
      </p:sp>
      <p:sp>
        <p:nvSpPr>
          <p:cNvPr id="178" name="Google Shape;178;p25"/>
          <p:cNvSpPr/>
          <p:nvPr/>
        </p:nvSpPr>
        <p:spPr>
          <a:xfrm>
            <a:off x="472339" y="58549"/>
            <a:ext cx="407700" cy="383400"/>
          </a:xfrm>
          <a:prstGeom prst="ellipse">
            <a:avLst/>
          </a:prstGeom>
          <a:solidFill>
            <a:srgbClr val="AD0505"/>
          </a:solidFill>
          <a:ln w="25400" cap="flat" cmpd="sng">
            <a:solidFill>
              <a:srgbClr val="AD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676189" y="41345"/>
            <a:ext cx="729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tamaran"/>
              <a:buNone/>
            </a:pPr>
            <a:r>
              <a:rPr lang="en" sz="18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Experiment 2: Edge Classification (Supervised approach)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Google Shape;180;p25"/>
              <p:cNvSpPr txBox="1"/>
              <p:nvPr/>
            </p:nvSpPr>
            <p:spPr>
              <a:xfrm>
                <a:off x="313313" y="552519"/>
                <a:ext cx="4192426" cy="3959846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Encoder: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Linear projection (64)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GAT (2 layers, 2 heads)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Residual (self + neighbors)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LayerNorm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= Node embeddings </a:t>
                </a:r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𝑧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𝑐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, 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𝑧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𝑡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)</m:t>
                    </m:r>
                    <m:r>
                      <a:rPr lang="en-US" sz="1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∈</m:t>
                    </m:r>
                    <m:sSup>
                      <m:sSupPr>
                        <m:ctrlPr>
                          <a:rPr lang="en-US" sz="1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pPr>
                      <m:e>
                        <m:r>
                          <a:rPr lang="en-US" sz="1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ℝ</m:t>
                        </m:r>
                      </m:e>
                      <m:sup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64</m:t>
                        </m:r>
                      </m:sup>
                    </m:sSup>
                  </m:oMath>
                </a14:m>
                <a:endParaRPr lang="en-US" sz="11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1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algn="just"/>
                <a:r>
                  <a:rPr lang="en-US" sz="11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Decoder:</a:t>
                </a:r>
              </a:p>
              <a:p>
                <a:pPr marL="0" lvl="0" indent="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𝑧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𝑒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=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𝑧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𝑐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∥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𝑧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𝑡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 ∈</m:t>
                    </m:r>
                    <m:sSup>
                      <m:sSupPr>
                        <m:ctrlP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ℝ</m:t>
                        </m:r>
                      </m:e>
                      <m:sup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128</m:t>
                        </m:r>
                      </m:sup>
                    </m:sSup>
                  </m:oMath>
                </a14:m>
                <a:endParaRPr lang="en-US" sz="1000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𝑀𝐿𝑃</m:t>
                    </m:r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(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𝑧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𝑒</m:t>
                        </m:r>
                      </m:sub>
                    </m:sSub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)</m:t>
                    </m:r>
                  </m:oMath>
                </a14:m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r>
                  <a:rPr lang="en-US" sz="1000" i="1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(128 </a:t>
                </a: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32 → 1)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=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𝑆𝑐𝑜𝑟𝑒</m:t>
                    </m:r>
                    <m:d>
                      <m:dPr>
                        <m:ctrlP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</m:ctrlPr>
                          </m:sSubSupPr>
                          <m:e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𝑐</m:t>
                            </m:r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,</m:t>
                            </m:r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𝑀𝐿</m:t>
                            </m:r>
                          </m:sup>
                        </m:sSubSup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=</m:t>
                        </m:r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1</m:t>
                        </m:r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| </m:t>
                        </m:r>
                        <m:sSub>
                          <m:sSubPr>
                            <m:ctrlP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𝑐</m:t>
                            </m:r>
                          </m:sub>
                        </m:sSub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, </m:t>
                        </m:r>
                        <m:sSub>
                          <m:sSubPr>
                            <m:ctrlP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  <a:sym typeface="Calibri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,  </m:t>
                    </m:r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𝑤</m:t>
                    </m:r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h</m:t>
                    </m:r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𝑒𝑟𝑒</m:t>
                    </m:r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  <m:sSubSup>
                      <m:sSubSupPr>
                        <m:ctrlPr>
                          <a:rPr lang="en-US" sz="1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SupPr>
                      <m:e>
                        <m:r>
                          <a:rPr lang="en-US" sz="1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𝑦</m:t>
                        </m:r>
                      </m:e>
                      <m:sub>
                        <m:r>
                          <a:rPr lang="en-US" sz="1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𝑐</m:t>
                        </m:r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,</m:t>
                        </m:r>
                        <m:r>
                          <a:rPr lang="en-US" sz="1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𝑡</m:t>
                        </m:r>
                      </m:sub>
                      <m:sup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𝑀𝐿</m:t>
                        </m:r>
                      </m:sup>
                    </m:sSubSup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dPr>
                      <m:e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0</m:t>
                        </m:r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1</m:t>
                        </m:r>
                      </m:e>
                    </m:d>
                    <m:r>
                      <a:rPr lang="en-US" sz="1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</m:oMath>
                </a14:m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Training Objective:</a:t>
                </a:r>
              </a:p>
              <a:p>
                <a:pPr lvl="0" algn="just"/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The model is trained using a </a:t>
                </a:r>
                <a:r>
                  <a:rPr lang="en-US" sz="10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weighted Binary Cross-Entropy (BCE) </a:t>
                </a:r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loss for edge-level laundering classification.</a:t>
                </a:r>
              </a:p>
              <a:p>
                <a:pPr lvl="0" algn="just"/>
                <a:r>
                  <a:rPr lang="en-US" sz="100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𝑊𝑒𝑖𝑔</m:t>
                    </m:r>
                    <m:r>
                      <a:rPr lang="en-US" sz="1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h</m:t>
                    </m:r>
                    <m:r>
                      <a:rPr lang="en-US" sz="1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𝑡</m:t>
                    </m:r>
                    <m:r>
                      <a:rPr lang="en-US" sz="1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 = </m:t>
                    </m:r>
                    <m:f>
                      <m:fPr>
                        <m:ctrlPr>
                          <a:rPr lang="en-US" sz="10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fPr>
                      <m:num>
                        <m:r>
                          <a:rPr lang="en-US" sz="10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𝑁𝑒𝑔𝑎𝑡𝑖𝑣𝑒𝑠</m:t>
                        </m:r>
                      </m:num>
                      <m:den>
                        <m:r>
                          <a:rPr lang="en-US" sz="10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𝑃𝑜𝑠𝑡𝑖𝑣𝑖𝑒𝑠</m:t>
                        </m:r>
                      </m:den>
                    </m:f>
                    <m:r>
                      <a:rPr lang="en-US" sz="1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= </m:t>
                    </m:r>
                    <m:r>
                      <a:rPr lang="en-US" sz="1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939</m:t>
                    </m:r>
                    <m:r>
                      <a:rPr lang="en-US" sz="1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.</m:t>
                    </m:r>
                    <m:r>
                      <a:rPr lang="en-US" sz="1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8</m:t>
                    </m:r>
                  </m:oMath>
                </a14:m>
                <a:endParaRPr lang="en-US" sz="1000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lvl="0" algn="just"/>
                <a:endParaRPr lang="en-US" sz="1200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Training Hyperparameters: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Learning Rate: 0.001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Neighbors Sampling: 1-hop 20; 2-hop 10;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i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Batch Size: 1024</a:t>
                </a:r>
              </a:p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80" name="Google Shape;180;p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13" y="552519"/>
                <a:ext cx="4192426" cy="39598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with a line drawn on it&#10;&#10;Description automatically generated">
            <a:extLst>
              <a:ext uri="{FF2B5EF4-FFF2-40B4-BE49-F238E27FC236}">
                <a16:creationId xmlns:a16="http://schemas.microsoft.com/office/drawing/2014/main" id="{69F16566-14AC-C1E0-4A9B-386738F15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669" y="854764"/>
            <a:ext cx="4246679" cy="31104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subTitle" idx="2"/>
          </p:nvPr>
        </p:nvSpPr>
        <p:spPr>
          <a:xfrm>
            <a:off x="1475192" y="4735891"/>
            <a:ext cx="6867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9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SPML  - </a:t>
            </a:r>
            <a:r>
              <a:rPr lang="en-US" sz="9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Link Prediction vs. Supervised Classification in Graph Neural Networks for Anti-Money Laundering</a:t>
            </a:r>
            <a:endParaRPr lang="en-US" dirty="0"/>
          </a:p>
        </p:txBody>
      </p:sp>
      <p:sp>
        <p:nvSpPr>
          <p:cNvPr id="187" name="Google Shape;187;p26"/>
          <p:cNvSpPr/>
          <p:nvPr/>
        </p:nvSpPr>
        <p:spPr>
          <a:xfrm>
            <a:off x="472339" y="58549"/>
            <a:ext cx="407700" cy="383400"/>
          </a:xfrm>
          <a:prstGeom prst="ellipse">
            <a:avLst/>
          </a:prstGeom>
          <a:solidFill>
            <a:srgbClr val="AD0505"/>
          </a:solidFill>
          <a:ln w="25400" cap="flat" cmpd="sng">
            <a:solidFill>
              <a:srgbClr val="AD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724088" y="45729"/>
            <a:ext cx="729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tamaran"/>
              <a:buNone/>
            </a:pPr>
            <a:r>
              <a:rPr lang="en-US" sz="18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VS Supervised approaches</a:t>
            </a:r>
            <a:endParaRPr lang="en-US" sz="1800" dirty="0"/>
          </a:p>
        </p:txBody>
      </p:sp>
      <p:pic>
        <p:nvPicPr>
          <p:cNvPr id="189" name="Google Shape;189;p26" title="roc_auc.png"/>
          <p:cNvPicPr preferRelativeResize="0"/>
          <p:nvPr/>
        </p:nvPicPr>
        <p:blipFill rotWithShape="1">
          <a:blip r:embed="rId3">
            <a:alphaModFix/>
          </a:blip>
          <a:srcRect r="50575"/>
          <a:stretch/>
        </p:blipFill>
        <p:spPr>
          <a:xfrm>
            <a:off x="251792" y="476208"/>
            <a:ext cx="3120886" cy="2752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graph of blue and orange bars&#10;&#10;Description automatically generated">
            <a:extLst>
              <a:ext uri="{FF2B5EF4-FFF2-40B4-BE49-F238E27FC236}">
                <a16:creationId xmlns:a16="http://schemas.microsoft.com/office/drawing/2014/main" id="{8B9C5985-C129-A115-4D76-D33AE0B82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915" y="633036"/>
            <a:ext cx="5420087" cy="2689530"/>
          </a:xfrm>
          <a:prstGeom prst="rect">
            <a:avLst/>
          </a:prstGeom>
        </p:spPr>
      </p:pic>
      <p:sp>
        <p:nvSpPr>
          <p:cNvPr id="8" name="Google Shape;119;p19">
            <a:extLst>
              <a:ext uri="{FF2B5EF4-FFF2-40B4-BE49-F238E27FC236}">
                <a16:creationId xmlns:a16="http://schemas.microsoft.com/office/drawing/2014/main" id="{C3728D43-BD6D-33E8-5008-7C8B3B0000C2}"/>
              </a:ext>
            </a:extLst>
          </p:cNvPr>
          <p:cNvSpPr txBox="1"/>
          <p:nvPr/>
        </p:nvSpPr>
        <p:spPr>
          <a:xfrm>
            <a:off x="1366861" y="3597965"/>
            <a:ext cx="6703713" cy="104446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3850" lvl="0" indent="-171450" rtl="0">
              <a:spcBef>
                <a:spcPts val="120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Performance Insight: </a:t>
            </a:r>
            <a:r>
              <a:rPr lang="en-US" sz="12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While Supervised learning dominates overall, the Self-Supervised model achieves strong detection (~80% AUC) on some crime type (like Smurfing) without using any labels.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subTitle" idx="2"/>
          </p:nvPr>
        </p:nvSpPr>
        <p:spPr>
          <a:xfrm>
            <a:off x="1475192" y="4735891"/>
            <a:ext cx="6867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9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SPML  - </a:t>
            </a:r>
            <a:r>
              <a:rPr lang="en-US" sz="9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Link Prediction vs. Supervised Classification in Graph Neural Networks for Anti-Money Laundering</a:t>
            </a:r>
            <a:endParaRPr lang="en-US" dirty="0"/>
          </a:p>
        </p:txBody>
      </p:sp>
      <p:sp>
        <p:nvSpPr>
          <p:cNvPr id="187" name="Google Shape;187;p26"/>
          <p:cNvSpPr/>
          <p:nvPr/>
        </p:nvSpPr>
        <p:spPr>
          <a:xfrm>
            <a:off x="472339" y="58549"/>
            <a:ext cx="407700" cy="383400"/>
          </a:xfrm>
          <a:prstGeom prst="ellipse">
            <a:avLst/>
          </a:prstGeom>
          <a:solidFill>
            <a:srgbClr val="AD0505"/>
          </a:solidFill>
          <a:ln w="25400" cap="flat" cmpd="sng">
            <a:solidFill>
              <a:srgbClr val="AD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724088" y="45729"/>
            <a:ext cx="729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tamaran"/>
              <a:buNone/>
            </a:pPr>
            <a:r>
              <a:rPr lang="en-US" sz="18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Recall @ K (Operational Effectiveness)</a:t>
            </a:r>
            <a:endParaRPr lang="en-US" sz="1800" dirty="0"/>
          </a:p>
        </p:txBody>
      </p:sp>
      <p:pic>
        <p:nvPicPr>
          <p:cNvPr id="3" name="Picture 2" descr="A graph of blue and orange bars&#10;&#10;Description automatically generated">
            <a:extLst>
              <a:ext uri="{FF2B5EF4-FFF2-40B4-BE49-F238E27FC236}">
                <a16:creationId xmlns:a16="http://schemas.microsoft.com/office/drawing/2014/main" id="{3B35BA0D-28F0-853A-D968-3870D61D9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6" y="830018"/>
            <a:ext cx="4880823" cy="291171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B6E6A6-C422-001A-253E-1B04DDE6A951}"/>
              </a:ext>
            </a:extLst>
          </p:cNvPr>
          <p:cNvCxnSpPr>
            <a:cxnSpLocks/>
          </p:cNvCxnSpPr>
          <p:nvPr/>
        </p:nvCxnSpPr>
        <p:spPr>
          <a:xfrm>
            <a:off x="5214731" y="653672"/>
            <a:ext cx="0" cy="34644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Google Shape;162;p23">
            <a:extLst>
              <a:ext uri="{FF2B5EF4-FFF2-40B4-BE49-F238E27FC236}">
                <a16:creationId xmlns:a16="http://schemas.microsoft.com/office/drawing/2014/main" id="{9F6A862B-E01C-48A6-5EB8-37A4F0B81046}"/>
              </a:ext>
            </a:extLst>
          </p:cNvPr>
          <p:cNvSpPr txBox="1"/>
          <p:nvPr/>
        </p:nvSpPr>
        <p:spPr>
          <a:xfrm>
            <a:off x="5402148" y="923849"/>
            <a:ext cx="3659734" cy="31048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</a:pPr>
            <a:r>
              <a:rPr lang="en-US" sz="1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Supervised</a:t>
            </a:r>
            <a:r>
              <a:rPr lang="en" sz="1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344488" lvl="0" indent="-185738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High Efficiency: 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Catches </a:t>
            </a: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~80% of money laundering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by reviewing just the top </a:t>
            </a: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5%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of transactions.</a:t>
            </a:r>
          </a:p>
          <a:p>
            <a:pPr marL="158750" lvl="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</a:pPr>
            <a:endParaRPr lang="en-US" sz="10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4488" lvl="0" indent="-185738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Operational Role: 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Ideal for primary, automated blocking of known threats.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buClr>
                <a:schemeClr val="accent1"/>
              </a:buClr>
              <a:buSzPts val="1200"/>
            </a:pPr>
            <a:r>
              <a:rPr lang="en-US" sz="1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Self-Supervised</a:t>
            </a:r>
            <a:r>
              <a:rPr lang="en" sz="1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85738" indent="-185738" algn="just"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Lower Efficiency: 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Requires a larger review budget (top 30-40%) to achieve comparable recall</a:t>
            </a: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algn="just">
              <a:buClr>
                <a:schemeClr val="accent1"/>
              </a:buClr>
              <a:buSzPts val="1200"/>
            </a:pPr>
            <a:endParaRPr lang="en-US" sz="10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5738" indent="-185738" algn="just"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Why? 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It flags all anomalies, not just fraud. The top 1% contains many "weird but legal" transactions (False Positives).</a:t>
            </a:r>
          </a:p>
          <a:p>
            <a:pPr algn="just">
              <a:buClr>
                <a:schemeClr val="accent1"/>
              </a:buClr>
              <a:buSzPts val="1200"/>
            </a:pPr>
            <a:endParaRPr lang="en-US" sz="10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5738" indent="-185738" algn="just">
              <a:buClr>
                <a:schemeClr val="accent1"/>
              </a:buClr>
              <a:buSzPts val="1200"/>
              <a:buFont typeface="Calibri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Operational Role: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Best used as a secondary </a:t>
            </a:r>
            <a:r>
              <a:rPr lang="en-US" sz="1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"Safety Net"</a:t>
            </a:r>
            <a:r>
              <a:rPr lang="en-US" sz="1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to investigate accounts that pass the Supervised check but behave strangely.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230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subTitle" idx="2"/>
          </p:nvPr>
        </p:nvSpPr>
        <p:spPr>
          <a:xfrm>
            <a:off x="1387996" y="4850849"/>
            <a:ext cx="6867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9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SPML  - </a:t>
            </a:r>
            <a:r>
              <a:rPr lang="en-US" sz="9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Link Prediction vs. Supervised Classification in Graph Neural Networks for Anti-Money Laundering</a:t>
            </a:r>
            <a:endParaRPr lang="en-US" dirty="0"/>
          </a:p>
        </p:txBody>
      </p:sp>
      <p:sp>
        <p:nvSpPr>
          <p:cNvPr id="197" name="Google Shape;197;p27"/>
          <p:cNvSpPr/>
          <p:nvPr/>
        </p:nvSpPr>
        <p:spPr>
          <a:xfrm>
            <a:off x="472339" y="58549"/>
            <a:ext cx="407700" cy="383400"/>
          </a:xfrm>
          <a:prstGeom prst="ellipse">
            <a:avLst/>
          </a:prstGeom>
          <a:solidFill>
            <a:srgbClr val="AD0505"/>
          </a:solidFill>
          <a:ln w="25400" cap="flat" cmpd="sng">
            <a:solidFill>
              <a:srgbClr val="AD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676189" y="32045"/>
            <a:ext cx="729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tamaran"/>
              <a:buNone/>
            </a:pPr>
            <a:r>
              <a:rPr lang="en" sz="18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Embeddings (Transactions)</a:t>
            </a:r>
            <a:endParaRPr dirty="0"/>
          </a:p>
        </p:txBody>
      </p:sp>
      <p:pic>
        <p:nvPicPr>
          <p:cNvPr id="199" name="Google Shape;199;p27" title="self_supervised_em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96" y="499100"/>
            <a:ext cx="4125375" cy="329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7" title="supervised_em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495786"/>
            <a:ext cx="4125376" cy="32952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9;p19">
            <a:extLst>
              <a:ext uri="{FF2B5EF4-FFF2-40B4-BE49-F238E27FC236}">
                <a16:creationId xmlns:a16="http://schemas.microsoft.com/office/drawing/2014/main" id="{CC8CDC03-3B8D-8DFE-CC3D-B3CB2C9AAB0C}"/>
              </a:ext>
            </a:extLst>
          </p:cNvPr>
          <p:cNvSpPr txBox="1"/>
          <p:nvPr/>
        </p:nvSpPr>
        <p:spPr>
          <a:xfrm>
            <a:off x="5015948" y="3827207"/>
            <a:ext cx="3681428" cy="104875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323850" indent="-171450">
              <a:spcBef>
                <a:spcPts val="1200"/>
              </a:spcBef>
              <a:buClr>
                <a:srgbClr val="424242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r>
              <a:rPr lang="en-US" sz="10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Perfect separation. The "Laundering" (Red) points are pushed far away from "Normal" (Grey) points.</a:t>
            </a:r>
          </a:p>
          <a:p>
            <a:pPr marL="323850" indent="-171450">
              <a:spcBef>
                <a:spcPts val="1200"/>
              </a:spcBef>
              <a:buClr>
                <a:srgbClr val="424242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Reason: </a:t>
            </a:r>
            <a:r>
              <a:rPr lang="en-US" sz="10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The model was explicitly trained to discriminate between these two classes. It learned "Guilt."</a:t>
            </a:r>
          </a:p>
        </p:txBody>
      </p:sp>
      <p:sp>
        <p:nvSpPr>
          <p:cNvPr id="3" name="Google Shape;119;p19">
            <a:extLst>
              <a:ext uri="{FF2B5EF4-FFF2-40B4-BE49-F238E27FC236}">
                <a16:creationId xmlns:a16="http://schemas.microsoft.com/office/drawing/2014/main" id="{3CA5ECAB-F975-451A-8A7F-95D2820C4AA3}"/>
              </a:ext>
            </a:extLst>
          </p:cNvPr>
          <p:cNvSpPr txBox="1"/>
          <p:nvPr/>
        </p:nvSpPr>
        <p:spPr>
          <a:xfrm>
            <a:off x="569843" y="3829000"/>
            <a:ext cx="3681428" cy="104875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323850" indent="-171450">
              <a:spcBef>
                <a:spcPts val="1200"/>
              </a:spcBef>
              <a:buClr>
                <a:srgbClr val="424242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r>
              <a:rPr lang="en-US" sz="10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Significant overlap. The Red points are mixed deep within the Grey clusters.</a:t>
            </a:r>
          </a:p>
          <a:p>
            <a:pPr marL="323850" indent="-171450">
              <a:spcBef>
                <a:spcPts val="1200"/>
              </a:spcBef>
              <a:buClr>
                <a:srgbClr val="424242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Reason: </a:t>
            </a:r>
            <a:r>
              <a:rPr lang="en-US" sz="10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The model was never shown labels. It groups transactions based on structural similarity.</a:t>
            </a:r>
          </a:p>
        </p:txBody>
      </p:sp>
    </p:spTree>
    <p:extLst>
      <p:ext uri="{BB962C8B-B14F-4D97-AF65-F5344CB8AC3E}">
        <p14:creationId xmlns:p14="http://schemas.microsoft.com/office/powerpoint/2010/main" val="2130475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subTitle" idx="2"/>
          </p:nvPr>
        </p:nvSpPr>
        <p:spPr>
          <a:xfrm>
            <a:off x="1475192" y="4735891"/>
            <a:ext cx="6867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9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SPML  - </a:t>
            </a:r>
            <a:r>
              <a:rPr lang="en-US" sz="9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Link Prediction vs. Supervised Classification in Graph Neural Networks for Anti-Money Laundering</a:t>
            </a:r>
            <a:endParaRPr lang="en-US" dirty="0"/>
          </a:p>
        </p:txBody>
      </p:sp>
      <p:sp>
        <p:nvSpPr>
          <p:cNvPr id="217" name="Google Shape;217;p29"/>
          <p:cNvSpPr/>
          <p:nvPr/>
        </p:nvSpPr>
        <p:spPr>
          <a:xfrm>
            <a:off x="472339" y="58549"/>
            <a:ext cx="407700" cy="383400"/>
          </a:xfrm>
          <a:prstGeom prst="ellipse">
            <a:avLst/>
          </a:prstGeom>
          <a:solidFill>
            <a:srgbClr val="AD0505"/>
          </a:solidFill>
          <a:ln w="25400" cap="flat" cmpd="sng">
            <a:solidFill>
              <a:srgbClr val="AD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949375" y="58550"/>
            <a:ext cx="729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tamaran"/>
              <a:buNone/>
            </a:pPr>
            <a:r>
              <a:rPr lang="en" sz="1800" b="1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2" name="Google Shape;119;p19">
            <a:extLst>
              <a:ext uri="{FF2B5EF4-FFF2-40B4-BE49-F238E27FC236}">
                <a16:creationId xmlns:a16="http://schemas.microsoft.com/office/drawing/2014/main" id="{BF3EA534-EA84-62EC-8C93-CF2C47138371}"/>
              </a:ext>
            </a:extLst>
          </p:cNvPr>
          <p:cNvSpPr txBox="1"/>
          <p:nvPr/>
        </p:nvSpPr>
        <p:spPr>
          <a:xfrm>
            <a:off x="676188" y="661730"/>
            <a:ext cx="7860113" cy="377112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152400">
              <a:spcBef>
                <a:spcPts val="1200"/>
              </a:spcBef>
              <a:buClr>
                <a:srgbClr val="424242"/>
              </a:buClr>
              <a:buSzPts val="1200"/>
            </a:pPr>
            <a:r>
              <a:rPr lang="en-US" sz="11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Geometry Drives Detection:</a:t>
            </a:r>
          </a:p>
          <a:p>
            <a:pPr marL="323850" indent="-171450">
              <a:spcBef>
                <a:spcPts val="1200"/>
              </a:spcBef>
              <a:buClr>
                <a:srgbClr val="424242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Success (Smurfing, ~80% AUC): </a:t>
            </a:r>
            <a:r>
              <a:rPr lang="en-US" sz="10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The model excels at detecting crimes with unnatural shapes. Typologies like Smurfing create "Star" patterns (high-degree hubs) that stand out mathematically as structural anomalies</a:t>
            </a:r>
          </a:p>
          <a:p>
            <a:pPr marL="323850" indent="-171450">
              <a:spcBef>
                <a:spcPts val="1200"/>
              </a:spcBef>
              <a:buClr>
                <a:srgbClr val="424242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Limitation (Cash Withdrawal, ~53% AUC): </a:t>
            </a:r>
            <a:r>
              <a:rPr lang="en-US" sz="10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Crimes that lack a distinct shape fail. A withdrawal creates a Single Edge, which looks topologically identical to a legitimate purchase.</a:t>
            </a:r>
          </a:p>
          <a:p>
            <a:pPr marL="152400">
              <a:spcBef>
                <a:spcPts val="1200"/>
              </a:spcBef>
              <a:buClr>
                <a:srgbClr val="424242"/>
              </a:buClr>
              <a:buSzPts val="1200"/>
            </a:pPr>
            <a:endParaRPr lang="en-US" sz="1000" dirty="0">
              <a:solidFill>
                <a:srgbClr val="4242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>
              <a:spcBef>
                <a:spcPts val="1200"/>
              </a:spcBef>
              <a:buClr>
                <a:srgbClr val="424242"/>
              </a:buClr>
              <a:buSzPts val="1200"/>
            </a:pPr>
            <a:r>
              <a:rPr lang="en-US" sz="11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The "Structural Mimicry" Barrier:</a:t>
            </a:r>
          </a:p>
          <a:p>
            <a:pPr marL="323850" indent="-171450">
              <a:spcBef>
                <a:spcPts val="1200"/>
              </a:spcBef>
              <a:buClr>
                <a:srgbClr val="424242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learning struggles when criminal behavior intentionally </a:t>
            </a:r>
            <a:r>
              <a:rPr lang="en-US" sz="10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mimics</a:t>
            </a:r>
            <a:r>
              <a:rPr lang="en-US" sz="10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 complex legal flows (e.g., </a:t>
            </a:r>
            <a:r>
              <a:rPr lang="en-US" sz="10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Stacked Bipartite </a:t>
            </a:r>
            <a:r>
              <a:rPr lang="en-US" sz="10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resembling payroll). Without labels, the model cannot separate these "good" and "bad" twins.</a:t>
            </a:r>
          </a:p>
          <a:p>
            <a:pPr marL="152400">
              <a:spcBef>
                <a:spcPts val="1200"/>
              </a:spcBef>
              <a:buClr>
                <a:srgbClr val="424242"/>
              </a:buClr>
              <a:buSzPts val="1200"/>
            </a:pPr>
            <a:endParaRPr lang="en-US" sz="1000" dirty="0">
              <a:solidFill>
                <a:srgbClr val="4242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>
              <a:spcBef>
                <a:spcPts val="1200"/>
              </a:spcBef>
              <a:buClr>
                <a:srgbClr val="424242"/>
              </a:buClr>
              <a:buSzPts val="1200"/>
            </a:pPr>
            <a:r>
              <a:rPr lang="en-US" sz="11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A Hybrid Strategy:</a:t>
            </a:r>
          </a:p>
          <a:p>
            <a:pPr marL="323850" indent="-171450">
              <a:spcBef>
                <a:spcPts val="1200"/>
              </a:spcBef>
              <a:buClr>
                <a:srgbClr val="424242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Supervised Models: </a:t>
            </a:r>
            <a:r>
              <a:rPr lang="en-US" sz="10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Deploy as the "Front Line" to block known, simple threats efficiently</a:t>
            </a:r>
          </a:p>
          <a:p>
            <a:pPr marL="323850" indent="-171450">
              <a:spcBef>
                <a:spcPts val="1200"/>
              </a:spcBef>
              <a:buClr>
                <a:srgbClr val="424242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Models</a:t>
            </a:r>
            <a:r>
              <a:rPr lang="en-US" sz="10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: Deploy as a </a:t>
            </a:r>
            <a:r>
              <a:rPr lang="en-US" sz="10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"Discovery Tool" </a:t>
            </a:r>
            <a:r>
              <a:rPr lang="en-US" sz="10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to uncover rare, complex anomalies that supervised rules have never seen before.</a:t>
            </a:r>
          </a:p>
          <a:p>
            <a:pPr marL="152400">
              <a:spcBef>
                <a:spcPts val="1200"/>
              </a:spcBef>
              <a:buClr>
                <a:srgbClr val="424242"/>
              </a:buClr>
              <a:buSzPts val="1200"/>
            </a:pPr>
            <a:endParaRPr lang="en-US" sz="1000" dirty="0">
              <a:solidFill>
                <a:srgbClr val="4242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3850" indent="-171450">
              <a:spcBef>
                <a:spcPts val="1200"/>
              </a:spcBef>
              <a:buClr>
                <a:srgbClr val="424242"/>
              </a:buClr>
              <a:buSzPts val="1200"/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4242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>
            <a:spLocks noGrp="1"/>
          </p:cNvSpPr>
          <p:nvPr>
            <p:ph type="subTitle" idx="1"/>
          </p:nvPr>
        </p:nvSpPr>
        <p:spPr>
          <a:xfrm>
            <a:off x="727950" y="1685300"/>
            <a:ext cx="7688100" cy="24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Mário Cardoso </a:t>
            </a: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et al. (2022) “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LaundroGraph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Self-Supervised Graph Representation Learning for Anti-Money Laundering</a:t>
            </a: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”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endParaRPr lang="e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Berkan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Oztas</a:t>
            </a: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et al. (2023) “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Enhancing Anti-Money Laundering: Development of a Synthetic Transaction Monitoring Dataset</a:t>
            </a: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”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endParaRPr lang="e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Dawei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Cheng</a:t>
            </a: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et al. (2024) “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Neural Networks for Financial Fraud Detection: A Review</a:t>
            </a:r>
            <a:r>
              <a:rPr lang="e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“ </a:t>
            </a:r>
            <a:endParaRPr sz="17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24" name="Google Shape;224;p30"/>
          <p:cNvSpPr txBox="1"/>
          <p:nvPr/>
        </p:nvSpPr>
        <p:spPr>
          <a:xfrm>
            <a:off x="634475" y="0"/>
            <a:ext cx="60357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2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Thank you for the attention!</a:t>
            </a:r>
            <a:endParaRPr>
              <a:solidFill>
                <a:srgbClr val="4242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1"/>
          <p:cNvSpPr txBox="1"/>
          <p:nvPr/>
        </p:nvSpPr>
        <p:spPr>
          <a:xfrm>
            <a:off x="3959625" y="4493900"/>
            <a:ext cx="15075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Feb</a:t>
            </a:r>
            <a:r>
              <a:rPr lang="en" sz="13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sz="13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subTitle" idx="2"/>
          </p:nvPr>
        </p:nvSpPr>
        <p:spPr>
          <a:xfrm>
            <a:off x="1475192" y="4735891"/>
            <a:ext cx="6867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9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SPML  - </a:t>
            </a:r>
            <a:r>
              <a:rPr lang="en-US" sz="9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Link Prediction vs. Supervised Classification in Graph Neural Networks for Anti-Money Laundering</a:t>
            </a:r>
            <a:endParaRPr lang="en-US" dirty="0"/>
          </a:p>
        </p:txBody>
      </p:sp>
      <p:sp>
        <p:nvSpPr>
          <p:cNvPr id="207" name="Google Shape;207;p28"/>
          <p:cNvSpPr/>
          <p:nvPr/>
        </p:nvSpPr>
        <p:spPr>
          <a:xfrm>
            <a:off x="472339" y="58549"/>
            <a:ext cx="407700" cy="383400"/>
          </a:xfrm>
          <a:prstGeom prst="ellipse">
            <a:avLst/>
          </a:prstGeom>
          <a:solidFill>
            <a:srgbClr val="AD0505"/>
          </a:solidFill>
          <a:ln w="25400" cap="flat" cmpd="sng">
            <a:solidFill>
              <a:srgbClr val="AD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676275" y="48349"/>
            <a:ext cx="729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tamaran"/>
              <a:buNone/>
            </a:pPr>
            <a:r>
              <a:rPr lang="en" sz="18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Extra Slides (Embeddings)</a:t>
            </a:r>
            <a:endParaRPr dirty="0"/>
          </a:p>
        </p:txBody>
      </p:sp>
      <p:pic>
        <p:nvPicPr>
          <p:cNvPr id="209" name="Google Shape;209;p28" title="self_supervised_emb_by_type.png"/>
          <p:cNvPicPr preferRelativeResize="0"/>
          <p:nvPr/>
        </p:nvPicPr>
        <p:blipFill rotWithShape="1">
          <a:blip r:embed="rId3">
            <a:alphaModFix/>
          </a:blip>
          <a:srcRect r="27667"/>
          <a:stretch/>
        </p:blipFill>
        <p:spPr>
          <a:xfrm>
            <a:off x="304800" y="604550"/>
            <a:ext cx="3827476" cy="309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8" title="supervised_emb_by_typ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5025" y="604550"/>
            <a:ext cx="4624250" cy="3093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8562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subTitle" idx="2"/>
          </p:nvPr>
        </p:nvSpPr>
        <p:spPr>
          <a:xfrm>
            <a:off x="1475192" y="4735891"/>
            <a:ext cx="6867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9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SPML  - </a:t>
            </a:r>
            <a:r>
              <a:rPr lang="en-US" sz="900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Self-Supervised Link Prediction vs. Supervised Classification in Graph Neural Networks for Anti-Money Laundering</a:t>
            </a:r>
            <a:endParaRPr lang="en-US" dirty="0"/>
          </a:p>
        </p:txBody>
      </p:sp>
      <p:sp>
        <p:nvSpPr>
          <p:cNvPr id="217" name="Google Shape;217;p29"/>
          <p:cNvSpPr/>
          <p:nvPr/>
        </p:nvSpPr>
        <p:spPr>
          <a:xfrm>
            <a:off x="472339" y="58549"/>
            <a:ext cx="407700" cy="383400"/>
          </a:xfrm>
          <a:prstGeom prst="ellipse">
            <a:avLst/>
          </a:prstGeom>
          <a:solidFill>
            <a:srgbClr val="AD0505"/>
          </a:solidFill>
          <a:ln w="25400" cap="flat" cmpd="sng">
            <a:solidFill>
              <a:srgbClr val="AD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676189" y="41345"/>
            <a:ext cx="729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tamaran"/>
              <a:buNone/>
            </a:pPr>
            <a:r>
              <a:rPr lang="en" sz="1800" b="1" dirty="0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Extra Slide (LaundroGraph Algorithm)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4EE663-7214-521B-3926-8C2AF26A0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753" y="692321"/>
            <a:ext cx="4025106" cy="404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0188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4774</TotalTime>
  <Words>1421</Words>
  <Application>Microsoft Office PowerPoint</Application>
  <PresentationFormat>On-screen Show (16:9)</PresentationFormat>
  <Paragraphs>161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Raleway</vt:lpstr>
      <vt:lpstr>Catamaran</vt:lpstr>
      <vt:lpstr>Cambria Math</vt:lpstr>
      <vt:lpstr>Simple Light</vt:lpstr>
      <vt:lpstr>Streamline</vt:lpstr>
      <vt:lpstr>Self-Supervised Link Prediction vs. Supervised Classification in Graph Neural Networks for Anti-Money Laundering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the attention!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Sandro Khizanishvili</cp:lastModifiedBy>
  <cp:revision>20</cp:revision>
  <dcterms:modified xsi:type="dcterms:W3CDTF">2026-02-19T13:36:04Z</dcterms:modified>
</cp:coreProperties>
</file>